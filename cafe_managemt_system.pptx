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57" r:id="rId3"/>
    <p:sldId id="258" r:id="rId4"/>
    <p:sldId id="260" r:id="rId5"/>
    <p:sldId id="320" r:id="rId6"/>
    <p:sldId id="304" r:id="rId7"/>
    <p:sldId id="321" r:id="rId8"/>
    <p:sldId id="309" r:id="rId9"/>
    <p:sldId id="305" r:id="rId10"/>
    <p:sldId id="306" r:id="rId11"/>
    <p:sldId id="316" r:id="rId12"/>
    <p:sldId id="317" r:id="rId13"/>
    <p:sldId id="307" r:id="rId14"/>
    <p:sldId id="308" r:id="rId15"/>
    <p:sldId id="310" r:id="rId16"/>
    <p:sldId id="264" r:id="rId17"/>
    <p:sldId id="31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2549" autoAdjust="0"/>
  </p:normalViewPr>
  <p:slideViewPr>
    <p:cSldViewPr snapToGrid="0">
      <p:cViewPr>
        <p:scale>
          <a:sx n="66" d="100"/>
          <a:sy n="66" d="100"/>
        </p:scale>
        <p:origin x="840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EA8F2-AB86-FCCF-09F8-47EC08D89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DCF900-CB33-C316-2D45-82F8931A5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82D98-7B80-C582-59F4-D6F85B257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68D8-DF57-4A0D-ABDF-CEF1E2949BD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D7A6F-812B-DBE0-A5CB-830CDE7B1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5855A-BC56-3844-EB2F-AF5C0224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E411-C145-475B-B5E1-02AA5DF2C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20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983D3-E247-E959-EF3A-ECB114E3F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72FD8-B809-4EDA-1AE4-764A04CE9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C08F2-B4CD-0811-A2E8-75743C9B2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68D8-DF57-4A0D-ABDF-CEF1E2949BD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62714-C406-BC31-49E7-8C572EE0D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9C96A-DB26-1373-315D-1288417F7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E411-C145-475B-B5E1-02AA5DF2C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4138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A9E5A-6B44-676D-8CDF-5C3D4E129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34109-AA29-BB4A-D3F9-5B83D5E2CB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585D7-811A-D9C8-10A9-9E0C0A78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68D8-DF57-4A0D-ABDF-CEF1E2949BD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4C46A-B2C9-F6C6-3DAA-993ABBDB5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7B649-E4C0-18AB-F183-AEA32C10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E411-C145-475B-B5E1-02AA5DF2C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045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4992B-C5E0-D5D2-EB8F-B48069AAB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DE495-DDB9-4B86-048F-FB03F4C65B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16D214-BA8F-F445-A1C5-CABDE74D9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CC2AAF-5B63-0ED0-B77D-1D2E12AE3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68D8-DF57-4A0D-ABDF-CEF1E2949BD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6D4E7-85DB-8AD6-D807-E53816572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7D0DB-C4B5-4F17-F72E-4B61CBD8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E411-C145-475B-B5E1-02AA5DF2C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74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2142-1C03-9609-CDD8-37F077FED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A9EF2-5029-246F-AEFF-BC914A152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B91CA-F000-23E8-5B31-D9F131269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013F82-1AEB-F908-C386-D265F5DD74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D6E087-FC44-DF6E-4F1C-99B97C7EB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1E5CFA-40D0-E611-EFB4-410613B80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68D8-DF57-4A0D-ABDF-CEF1E2949BD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9902BF-002C-6A3A-60DB-9F9C6A074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3982CD-1EFA-B666-7305-86E75C2F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E411-C145-475B-B5E1-02AA5DF2C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424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365DD-3ACA-ABAE-D3A1-3704903A8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569657-9E03-7585-61AF-09A5FBC66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68D8-DF57-4A0D-ABDF-CEF1E2949BD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8CD95D-AF3B-AE63-EE2D-05DD2390A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E2D99-1FE0-F9ED-187F-CDE37CAA6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E411-C145-475B-B5E1-02AA5DF2C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812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0B4032-B63D-0DD1-CB28-739570157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68D8-DF57-4A0D-ABDF-CEF1E2949BD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12FB9-7F91-56CC-7DEE-BB09BBAE9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7AF78-C4E1-40FC-8395-DD8373795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E411-C145-475B-B5E1-02AA5DF2C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179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9701F-0C6D-7981-4E86-FE614BF52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F3F38-EB54-1559-7EDE-907C2C43F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D3393-6247-25D8-516F-C12951B290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652A6-4A6E-D1FA-E333-06E7B29A2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68D8-DF57-4A0D-ABDF-CEF1E2949BD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6D3089-0916-CB32-7962-28917E26F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87566-EC9B-152F-845F-1EB59935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E411-C145-475B-B5E1-02AA5DF2C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821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3B97-F054-1FCA-1866-98F419D23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86A4F-6955-66AA-2AF1-77DAC07A3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35AEC-6C5A-499B-D59D-DAC47FF95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2B9BC9-1176-03C7-4386-30D2C51C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68D8-DF57-4A0D-ABDF-CEF1E2949BD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48536-CB42-E155-C33A-3A94F0F66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66B6E-A75B-9638-8D10-A83AE0AE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E411-C145-475B-B5E1-02AA5DF2C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65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67962-0DD4-CC27-1869-DFD2224F9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2C06F-47FC-D6EC-16AE-720B513D44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2C8796-7947-F37C-4787-FF29D98D5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68D8-DF57-4A0D-ABDF-CEF1E2949BD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E333D-8F0D-E4BD-0772-277A8878D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FAA22-2812-81FA-D5FA-B9CB3284B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E411-C145-475B-B5E1-02AA5DF2C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712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21425B-5F16-E6E0-0775-711EB83B5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222A4-97CD-8478-532A-FC77B65E9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CD07F-6FA6-E103-BCED-4BB0060BA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868D8-DF57-4A0D-ABDF-CEF1E2949BD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647E8-4743-EAB0-C2A9-08BE38105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3ECD9-03C8-B51B-8E10-5665C083A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8FE411-C145-475B-B5E1-02AA5DF2C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58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A1109F-8E3A-8352-6EA9-0ECB59F16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2DB69-AB8E-F031-800C-38EDFD8A4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E6D4B-0332-D118-4F84-1D74D20B39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868D8-DF57-4A0D-ABDF-CEF1E2949BD5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6EF08-BF64-63DD-CF78-FEC1C06D5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9903F-0891-FAA4-4D17-383870413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FE411-C145-475B-B5E1-02AA5DF2CC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378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617542B-91B4-52CE-EC60-18AD9FC4F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68AB25-5955-4426-F982-F6F48D5EB3AC}"/>
              </a:ext>
            </a:extLst>
          </p:cNvPr>
          <p:cNvSpPr txBox="1"/>
          <p:nvPr/>
        </p:nvSpPr>
        <p:spPr>
          <a:xfrm>
            <a:off x="1190523" y="212405"/>
            <a:ext cx="97830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  <a:ea typeface="Prata"/>
                <a:cs typeface="Prata"/>
                <a:sym typeface="Prata"/>
              </a:rPr>
              <a:t>UCCC &amp; SPBCBA &amp; SDHGCBCA </a:t>
            </a:r>
          </a:p>
          <a:p>
            <a:pPr algn="ctr"/>
            <a:r>
              <a:rPr 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  <a:ea typeface="Prata"/>
                <a:cs typeface="Prata"/>
                <a:sym typeface="Prata"/>
              </a:rPr>
              <a:t>&amp; IT COLLEGE</a:t>
            </a:r>
            <a:endParaRPr lang="en-IN" sz="2800" b="1" dirty="0">
              <a:solidFill>
                <a:schemeClr val="accent2">
                  <a:lumMod val="60000"/>
                  <a:lumOff val="40000"/>
                </a:schemeClr>
              </a:solidFill>
              <a:latin typeface="Rockwell Extra Bold" panose="020609030405050204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F21A58-31AA-A7C3-96E4-64BE5C734165}"/>
              </a:ext>
            </a:extLst>
          </p:cNvPr>
          <p:cNvSpPr txBox="1"/>
          <p:nvPr/>
        </p:nvSpPr>
        <p:spPr>
          <a:xfrm>
            <a:off x="45235" y="4464007"/>
            <a:ext cx="3410156" cy="1196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22"/>
              </a:lnSpc>
              <a:buClr>
                <a:srgbClr val="CFCBBF"/>
              </a:buClr>
              <a:buSzPts val="1786"/>
            </a:pPr>
            <a:r>
              <a:rPr lang="en-US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Inter Bold" panose="02000503000000020004" pitchFamily="2" charset="0"/>
                <a:ea typeface="Inter Bold" panose="02000503000000020004" pitchFamily="2" charset="0"/>
                <a:cs typeface="Raleway"/>
                <a:sym typeface="Raleway"/>
              </a:rPr>
              <a:t>Project Guided :</a:t>
            </a:r>
            <a:endParaRPr lang="fi-FI" sz="2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Inter Bold" panose="02000503000000020004" pitchFamily="2" charset="0"/>
              <a:ea typeface="Inter Bold" panose="02000503000000020004" pitchFamily="2" charset="0"/>
              <a:cs typeface="Raleway"/>
              <a:sym typeface="Raleway"/>
            </a:endParaRPr>
          </a:p>
          <a:p>
            <a:pPr lvl="0" algn="ctr">
              <a:lnSpc>
                <a:spcPct val="160022"/>
              </a:lnSpc>
              <a:buClr>
                <a:srgbClr val="CFCBBF"/>
              </a:buClr>
              <a:buSzPts val="1786"/>
            </a:pPr>
            <a:r>
              <a:rPr lang="fi-FI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Inter Bold" panose="02000503000000020004" pitchFamily="2" charset="0"/>
                <a:ea typeface="Inter Bold" panose="02000503000000020004" pitchFamily="2" charset="0"/>
                <a:cs typeface="Raleway"/>
                <a:sym typeface="Raleway"/>
              </a:rPr>
              <a:t>Prof. Nisarg Naik</a:t>
            </a:r>
            <a:endParaRPr lang="fi-FI" sz="2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Inter Bold" panose="02000503000000020004" pitchFamily="2" charset="0"/>
              <a:ea typeface="Inter Bold" panose="02000503000000020004" pitchFamily="2" charset="0"/>
              <a:cs typeface="Calibri"/>
              <a:sym typeface="Calibri"/>
            </a:endParaRPr>
          </a:p>
        </p:txBody>
      </p:sp>
      <p:pic>
        <p:nvPicPr>
          <p:cNvPr id="9" name="Google Shape;26;p2">
            <a:extLst>
              <a:ext uri="{FF2B5EF4-FFF2-40B4-BE49-F238E27FC236}">
                <a16:creationId xmlns:a16="http://schemas.microsoft.com/office/drawing/2014/main" id="{63712D88-0497-D738-868B-534B6B1B67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81020" y="1189112"/>
            <a:ext cx="1602102" cy="16445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B0ACAC4-D931-3BE8-9AA1-EF8E574C74BD}"/>
              </a:ext>
            </a:extLst>
          </p:cNvPr>
          <p:cNvSpPr txBox="1"/>
          <p:nvPr/>
        </p:nvSpPr>
        <p:spPr>
          <a:xfrm>
            <a:off x="5281021" y="4275006"/>
            <a:ext cx="6666364" cy="2381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60022"/>
              </a:lnSpc>
              <a:buClr>
                <a:srgbClr val="CFCBBF"/>
              </a:buClr>
              <a:buSzPts val="1786"/>
            </a:pPr>
            <a:r>
              <a:rPr lang="en-US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Inter Bold" panose="02000503000000020004" pitchFamily="2" charset="0"/>
                <a:ea typeface="Inter Bold" panose="02000503000000020004" pitchFamily="2" charset="0"/>
                <a:cs typeface="Raleway"/>
                <a:sym typeface="Raleway"/>
              </a:rPr>
              <a:t>Group Members:</a:t>
            </a:r>
            <a:endParaRPr lang="fi-FI" sz="2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Inter Bold" panose="02000503000000020004" pitchFamily="2" charset="0"/>
              <a:ea typeface="Inter Bold" panose="02000503000000020004" pitchFamily="2" charset="0"/>
              <a:cs typeface="Raleway"/>
              <a:sym typeface="Raleway"/>
            </a:endParaRPr>
          </a:p>
          <a:p>
            <a:pPr lvl="0">
              <a:lnSpc>
                <a:spcPct val="160022"/>
              </a:lnSpc>
              <a:buClr>
                <a:srgbClr val="CFCBBF"/>
              </a:buClr>
              <a:buSzPts val="1786"/>
            </a:pPr>
            <a:r>
              <a:rPr lang="fi-FI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Inter Bold" panose="02000503000000020004" pitchFamily="2" charset="0"/>
                <a:ea typeface="Inter Bold" panose="02000503000000020004" pitchFamily="2" charset="0"/>
                <a:cs typeface="Raleway"/>
                <a:sym typeface="Raleway"/>
              </a:rPr>
              <a:t>Devendra Sonawane	2548008 [4752]</a:t>
            </a:r>
            <a:endParaRPr lang="fi-FI" sz="2400" b="1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Inter Bold" panose="02000503000000020004" pitchFamily="2" charset="0"/>
              <a:ea typeface="Inter Bold" panose="02000503000000020004" pitchFamily="2" charset="0"/>
              <a:cs typeface="Calibri"/>
              <a:sym typeface="Calibri"/>
            </a:endParaRPr>
          </a:p>
          <a:p>
            <a:pPr lvl="0">
              <a:lnSpc>
                <a:spcPct val="160022"/>
              </a:lnSpc>
              <a:buClr>
                <a:srgbClr val="CFCBBF"/>
              </a:buClr>
              <a:buSzPts val="1786"/>
            </a:pPr>
            <a:r>
              <a:rPr lang="fi-FI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Inter Bold" panose="02000503000000020004" pitchFamily="2" charset="0"/>
                <a:ea typeface="Inter Bold" panose="02000503000000020004" pitchFamily="2" charset="0"/>
                <a:cs typeface="Calibri"/>
                <a:sym typeface="Calibri"/>
              </a:rPr>
              <a:t>Shivam Das			2548032 [4330]</a:t>
            </a:r>
          </a:p>
          <a:p>
            <a:pPr lvl="0">
              <a:lnSpc>
                <a:spcPct val="160022"/>
              </a:lnSpc>
              <a:buClr>
                <a:srgbClr val="CFCBBF"/>
              </a:buClr>
              <a:buSzPts val="1786"/>
            </a:pPr>
            <a:r>
              <a:rPr lang="fi-FI" sz="2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Inter Bold" panose="02000503000000020004" pitchFamily="2" charset="0"/>
                <a:ea typeface="Inter Bold" panose="02000503000000020004" pitchFamily="2" charset="0"/>
                <a:cs typeface="Calibri"/>
                <a:sym typeface="Calibri"/>
              </a:rPr>
              <a:t>Dipika Yadav		2548005 [4215]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368D21-4F51-81EA-48D7-2F633855EAC5}"/>
              </a:ext>
            </a:extLst>
          </p:cNvPr>
          <p:cNvSpPr txBox="1"/>
          <p:nvPr/>
        </p:nvSpPr>
        <p:spPr>
          <a:xfrm>
            <a:off x="45235" y="21486"/>
            <a:ext cx="2215644" cy="10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60022"/>
              </a:lnSpc>
              <a:buClr>
                <a:srgbClr val="CFCBBF"/>
              </a:buClr>
              <a:buSzPts val="1786"/>
            </a:pPr>
            <a:r>
              <a:rPr lang="fi-FI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Inter Bold" panose="02000503000000020004" pitchFamily="2" charset="0"/>
                <a:ea typeface="Inter Bold" panose="02000503000000020004" pitchFamily="2" charset="0"/>
                <a:cs typeface="Calibri"/>
                <a:sym typeface="Calibri"/>
              </a:rPr>
              <a:t>Group No.:</a:t>
            </a:r>
          </a:p>
          <a:p>
            <a:pPr lvl="0" algn="ctr">
              <a:lnSpc>
                <a:spcPct val="160022"/>
              </a:lnSpc>
              <a:buClr>
                <a:srgbClr val="CFCBBF"/>
              </a:buClr>
              <a:buSzPts val="1786"/>
            </a:pPr>
            <a:r>
              <a:rPr lang="fi-FI" sz="2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Inter Bold" panose="02000503000000020004" pitchFamily="2" charset="0"/>
                <a:ea typeface="Inter Bold" panose="02000503000000020004" pitchFamily="2" charset="0"/>
                <a:cs typeface="Calibri"/>
                <a:sym typeface="Calibri"/>
              </a:rPr>
              <a:t>WFS_209</a:t>
            </a:r>
          </a:p>
        </p:txBody>
      </p:sp>
    </p:spTree>
    <p:extLst>
      <p:ext uri="{BB962C8B-B14F-4D97-AF65-F5344CB8AC3E}">
        <p14:creationId xmlns:p14="http://schemas.microsoft.com/office/powerpoint/2010/main" val="1226652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1B1FCA7-68C8-5714-85F4-BE1991ACA30C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28155" y="0"/>
            <a:ext cx="4757394" cy="6857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BB6053-AD48-1F6C-7084-10AE67068A33}"/>
              </a:ext>
            </a:extLst>
          </p:cNvPr>
          <p:cNvSpPr txBox="1"/>
          <p:nvPr/>
        </p:nvSpPr>
        <p:spPr>
          <a:xfrm>
            <a:off x="446985" y="149163"/>
            <a:ext cx="6925625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4991"/>
              </a:lnSpc>
              <a:buClr>
                <a:srgbClr val="F2E782"/>
              </a:buClr>
              <a:buSzPts val="6162"/>
            </a:pP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</a:rPr>
              <a:t>Café Management </a:t>
            </a:r>
            <a:r>
              <a:rPr lang="en-IN" sz="3600" b="1" i="0" u="none" strike="noStrike" cap="none" dirty="0">
                <a:solidFill>
                  <a:schemeClr val="accent2">
                    <a:lumMod val="7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Calibri"/>
                <a:sym typeface="Calibri"/>
              </a:rPr>
              <a:t>System</a:t>
            </a:r>
            <a:endParaRPr lang="en-US" sz="3600" b="1" i="0" u="none" strike="noStrike" cap="none" dirty="0">
              <a:solidFill>
                <a:schemeClr val="accent2">
                  <a:lumMod val="7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  <a:cs typeface="Calibri"/>
              <a:sym typeface="Calibri"/>
            </a:endParaRPr>
          </a:p>
          <a:p>
            <a:pPr algn="ctr"/>
            <a:endParaRPr lang="en-IN" sz="1600" dirty="0">
              <a:solidFill>
                <a:schemeClr val="accent2">
                  <a:lumMod val="7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E054FC9-8957-E6A9-9BBB-91460B00E0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736678"/>
              </p:ext>
            </p:extLst>
          </p:nvPr>
        </p:nvGraphicFramePr>
        <p:xfrm>
          <a:off x="294531" y="1329376"/>
          <a:ext cx="7230534" cy="58316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4829">
                  <a:extLst>
                    <a:ext uri="{9D8B030D-6E8A-4147-A177-3AD203B41FA5}">
                      <a16:colId xmlns:a16="http://schemas.microsoft.com/office/drawing/2014/main" val="3287424966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503529553"/>
                    </a:ext>
                  </a:extLst>
                </a:gridCol>
                <a:gridCol w="2602545">
                  <a:extLst>
                    <a:ext uri="{9D8B030D-6E8A-4147-A177-3AD203B41FA5}">
                      <a16:colId xmlns:a16="http://schemas.microsoft.com/office/drawing/2014/main" val="493335551"/>
                    </a:ext>
                  </a:extLst>
                </a:gridCol>
              </a:tblGrid>
              <a:tr h="53836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The Problem</a:t>
                      </a:r>
                      <a:endParaRPr lang="en-IN" sz="24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Our Solution</a:t>
                      </a:r>
                      <a:endParaRPr lang="en-IN" sz="2400" b="1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/>
                        <a:t>Key Features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252849"/>
                  </a:ext>
                </a:extLst>
              </a:tr>
              <a:tr h="10748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Manual order taking leads to errors and delays.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centralized Cafe Management System named "The Code Cafe".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Role-Based Access:</a:t>
                      </a:r>
                      <a:r>
                        <a:rPr lang="en-US" dirty="0"/>
                        <a:t> Separate interfaces for Admin, Chef, and Cashier.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477103"/>
                  </a:ext>
                </a:extLst>
              </a:tr>
              <a:tr h="10748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Inefficient billing and payment processing.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 digital platform to streamline all cafe operations.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Order Management:</a:t>
                      </a:r>
                      <a:r>
                        <a:rPr lang="en-US" dirty="0"/>
                        <a:t> Intuitive system for placing, tracking, and completing orders.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821317"/>
                  </a:ext>
                </a:extLst>
              </a:tr>
              <a:tr h="10748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Difficulty in tracking daily sales and performance.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Improves speed, accuracy, and communication.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Sales Analytics:</a:t>
                      </a:r>
                      <a:r>
                        <a:rPr lang="en-US" dirty="0"/>
                        <a:t> Real-time dashboard and sales history for performance tracking.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329291"/>
                  </a:ext>
                </a:extLst>
              </a:tr>
              <a:tr h="107487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Poor communication between front-of-house and kitchen staff.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Real-time Notifications:</a:t>
                      </a:r>
                      <a:r>
                        <a:rPr lang="en-US" dirty="0"/>
                        <a:t> Instant alerts for new orders to keep staff synchronized.</a:t>
                      </a:r>
                      <a:endParaRPr lang="en-IN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0965608"/>
                  </a:ext>
                </a:extLst>
              </a:tr>
              <a:tr h="538366"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3162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336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913E83-1197-6E94-5B7A-13C4ECE9026B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3CBF31-3CDE-A805-46F3-13B84DEEFD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644656"/>
              </p:ext>
            </p:extLst>
          </p:nvPr>
        </p:nvGraphicFramePr>
        <p:xfrm>
          <a:off x="624838" y="1992206"/>
          <a:ext cx="11216643" cy="28735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38881">
                  <a:extLst>
                    <a:ext uri="{9D8B030D-6E8A-4147-A177-3AD203B41FA5}">
                      <a16:colId xmlns:a16="http://schemas.microsoft.com/office/drawing/2014/main" val="2503862025"/>
                    </a:ext>
                  </a:extLst>
                </a:gridCol>
                <a:gridCol w="3738881">
                  <a:extLst>
                    <a:ext uri="{9D8B030D-6E8A-4147-A177-3AD203B41FA5}">
                      <a16:colId xmlns:a16="http://schemas.microsoft.com/office/drawing/2014/main" val="2874581214"/>
                    </a:ext>
                  </a:extLst>
                </a:gridCol>
                <a:gridCol w="3738881">
                  <a:extLst>
                    <a:ext uri="{9D8B030D-6E8A-4147-A177-3AD203B41FA5}">
                      <a16:colId xmlns:a16="http://schemas.microsoft.com/office/drawing/2014/main" val="2996577622"/>
                    </a:ext>
                  </a:extLst>
                </a:gridCol>
              </a:tblGrid>
              <a:tr h="72915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Devendra Prabhakar Sonawane</a:t>
                      </a:r>
                      <a:endParaRPr lang="en-IN" sz="2000" dirty="0">
                        <a:solidFill>
                          <a:schemeClr val="bg2">
                            <a:lumMod val="25000"/>
                          </a:schemeClr>
                        </a:solidFill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Shivam </a:t>
                      </a:r>
                      <a:r>
                        <a:rPr lang="en-US" sz="2000" dirty="0" err="1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DharmendraBhai</a:t>
                      </a:r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 Das</a:t>
                      </a:r>
                      <a:endParaRPr lang="en-IN" sz="2000" dirty="0">
                        <a:solidFill>
                          <a:schemeClr val="bg2">
                            <a:lumMod val="25000"/>
                          </a:schemeClr>
                        </a:solidFill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Dipika  Mahendra Prasad Yadav</a:t>
                      </a:r>
                      <a:endParaRPr lang="en-IN" sz="2000" dirty="0">
                        <a:solidFill>
                          <a:schemeClr val="bg2">
                            <a:lumMod val="25000"/>
                          </a:schemeClr>
                        </a:solidFill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125917"/>
                  </a:ext>
                </a:extLst>
              </a:tr>
              <a:tr h="72915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Roll No: </a:t>
                      </a:r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2548008</a:t>
                      </a:r>
                      <a:endParaRPr lang="en-IN" sz="2000" dirty="0">
                        <a:solidFill>
                          <a:schemeClr val="bg2">
                            <a:lumMod val="25000"/>
                          </a:schemeClr>
                        </a:solidFill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Roll No:</a:t>
                      </a:r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 2548032</a:t>
                      </a:r>
                      <a:endParaRPr lang="en-IN" sz="2000" dirty="0">
                        <a:solidFill>
                          <a:schemeClr val="bg2">
                            <a:lumMod val="25000"/>
                          </a:schemeClr>
                        </a:solidFill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Roll No:</a:t>
                      </a:r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 2548005</a:t>
                      </a:r>
                      <a:endParaRPr lang="en-IN" sz="2000" dirty="0">
                        <a:solidFill>
                          <a:schemeClr val="bg2">
                            <a:lumMod val="25000"/>
                          </a:schemeClr>
                        </a:solidFill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823988"/>
                  </a:ext>
                </a:extLst>
              </a:tr>
              <a:tr h="141528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Contribution:</a:t>
                      </a:r>
                      <a:r>
                        <a:rPr lang="en-US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 Project Lead, Backend Development (PHP, CodeIgniter), Database Management.</a:t>
                      </a:r>
                      <a:endParaRPr lang="en-IN" sz="2000" dirty="0">
                        <a:solidFill>
                          <a:schemeClr val="bg2">
                            <a:lumMod val="25000"/>
                          </a:schemeClr>
                        </a:solidFill>
                        <a:latin typeface="Inter" panose="02000503000000020004" pitchFamily="2" charset="0"/>
                        <a:ea typeface="Inter" panose="02000503000000020004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Contribution:</a:t>
                      </a:r>
                      <a:r>
                        <a:rPr lang="en-IN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 Frontend Development (HTML, CSS, Bootstrap), UI/UX Design, JavaScript.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Contribution:</a:t>
                      </a:r>
                      <a:r>
                        <a:rPr lang="en-IN" sz="2000" dirty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Inter" panose="02000503000000020004" pitchFamily="2" charset="0"/>
                          <a:ea typeface="Inter" panose="02000503000000020004" pitchFamily="2" charset="0"/>
                        </a:rPr>
                        <a:t> System Analysis, Testing, Documentation, and Presentation.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1161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DFD47A7-E37A-F4F6-EA1C-A2B4578E8376}"/>
              </a:ext>
            </a:extLst>
          </p:cNvPr>
          <p:cNvSpPr txBox="1"/>
          <p:nvPr/>
        </p:nvSpPr>
        <p:spPr>
          <a:xfrm>
            <a:off x="3512082" y="288217"/>
            <a:ext cx="5167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Calibri" panose="020F0502020204030204" pitchFamily="34" charset="0"/>
              </a:rPr>
              <a:t>Development Team</a:t>
            </a:r>
            <a:endParaRPr lang="en-IN" sz="4000" b="1" dirty="0">
              <a:solidFill>
                <a:schemeClr val="accent2">
                  <a:lumMod val="7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120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45C72B-D613-BC3E-EE4F-A9DBEC9A3E5C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D11F83-824C-5AC1-560D-032C9F3DE46E}"/>
              </a:ext>
            </a:extLst>
          </p:cNvPr>
          <p:cNvSpPr txBox="1"/>
          <p:nvPr/>
        </p:nvSpPr>
        <p:spPr>
          <a:xfrm>
            <a:off x="3434898" y="256609"/>
            <a:ext cx="58757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2">
                    <a:lumMod val="7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Calibri" panose="020F0502020204030204" pitchFamily="34" charset="0"/>
              </a:rPr>
              <a:t>Technologies Used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B4BC971-CC2F-6621-3FC5-3C9816F6AB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19" y="1501971"/>
            <a:ext cx="1790561" cy="9378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73A9F6-0830-0659-76D4-4747410D33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733" y="1226641"/>
            <a:ext cx="1137920" cy="13512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5729880-45E3-771D-F2D6-E6A8E4A03F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4587" y="1158260"/>
            <a:ext cx="1828800" cy="1828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FF8C4FD-64AD-0BAE-3C34-386B542EDC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588272" y="4337787"/>
            <a:ext cx="2032000" cy="161925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509259A-8CA0-719C-94D1-79046215AA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6599" y="4190523"/>
            <a:ext cx="1605280" cy="16052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1404123-1AA7-9E78-80BB-F0B3A952C0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123" y="1402308"/>
            <a:ext cx="1330960" cy="133096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C59A78B-2CD3-AB46-30D5-FF4CD21D58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547" y="1282659"/>
            <a:ext cx="1574800" cy="15748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592D080-DF7A-F9FD-40BD-6DCD9B7AB538}"/>
              </a:ext>
            </a:extLst>
          </p:cNvPr>
          <p:cNvSpPr txBox="1"/>
          <p:nvPr/>
        </p:nvSpPr>
        <p:spPr>
          <a:xfrm>
            <a:off x="246519" y="5496558"/>
            <a:ext cx="3517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MySQL:</a:t>
            </a:r>
            <a:r>
              <a:rPr lang="en-US" dirty="0"/>
              <a:t> The core server-side scripting language used for all backend logic, from handling user requests to processing data.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EA7C20-3CD7-0B60-9A9C-B781849310EA}"/>
              </a:ext>
            </a:extLst>
          </p:cNvPr>
          <p:cNvSpPr txBox="1"/>
          <p:nvPr/>
        </p:nvSpPr>
        <p:spPr>
          <a:xfrm>
            <a:off x="3132556" y="2744018"/>
            <a:ext cx="31699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CodeIngniter</a:t>
            </a:r>
            <a:r>
              <a:rPr lang="en-US" b="1" dirty="0"/>
              <a:t>: </a:t>
            </a:r>
            <a:r>
              <a:rPr lang="en-US" dirty="0"/>
              <a:t>The powerful PHP framework that provided the Model-View-Controller (MVC) architecture, routing, and security for our application.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B60BC7-4509-3181-5CF7-D2B08A178B30}"/>
              </a:ext>
            </a:extLst>
          </p:cNvPr>
          <p:cNvSpPr txBox="1"/>
          <p:nvPr/>
        </p:nvSpPr>
        <p:spPr>
          <a:xfrm>
            <a:off x="6908799" y="2744741"/>
            <a:ext cx="53354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/>
              <a:t>HTML5: </a:t>
            </a:r>
            <a:r>
              <a:rPr lang="en-US" dirty="0"/>
              <a:t>The standard markup language used to create the structure and content of all web pages in the application.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CSS3: </a:t>
            </a:r>
            <a:r>
              <a:rPr lang="en-US" dirty="0"/>
              <a:t>Used for custom styling to enhance the visual design, creating a unique and branded look for our "Code Cafe" theme.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JS: </a:t>
            </a:r>
            <a:r>
              <a:rPr lang="en-US" dirty="0"/>
              <a:t>Implemented for client-side interactivity, such as dynamically updating the order cart, handling real-time notifications, and form validation.</a:t>
            </a: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AC0ED9-91FA-93C4-63FE-C22D2AD923A6}"/>
              </a:ext>
            </a:extLst>
          </p:cNvPr>
          <p:cNvSpPr txBox="1"/>
          <p:nvPr/>
        </p:nvSpPr>
        <p:spPr>
          <a:xfrm>
            <a:off x="231278" y="2750819"/>
            <a:ext cx="26744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PHP: </a:t>
            </a:r>
            <a:r>
              <a:rPr lang="en-US" dirty="0"/>
              <a:t>The core server-side scripting language used for all backend logic, from handling user requests to processing data.</a:t>
            </a:r>
            <a:endParaRPr lang="en-IN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A8F950-1561-5781-A33B-91D349B0ACF3}"/>
              </a:ext>
            </a:extLst>
          </p:cNvPr>
          <p:cNvSpPr txBox="1"/>
          <p:nvPr/>
        </p:nvSpPr>
        <p:spPr>
          <a:xfrm>
            <a:off x="4501813" y="6047837"/>
            <a:ext cx="7766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Bootstrap5:</a:t>
            </a:r>
            <a:r>
              <a:rPr lang="en-US" dirty="0"/>
              <a:t> A front-end framework used to design a responsive, mobile-first, and aesthetically pleasing user interface for all pages.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0356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9274-4104-91E7-A4FB-016BFB2AB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2765A0A-603F-DD66-7CF9-4D57E19DD38A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F66970-D2A4-FF4C-8D7E-0FE0D50EBF4A}"/>
              </a:ext>
            </a:extLst>
          </p:cNvPr>
          <p:cNvSpPr txBox="1"/>
          <p:nvPr/>
        </p:nvSpPr>
        <p:spPr>
          <a:xfrm>
            <a:off x="3916679" y="289560"/>
            <a:ext cx="5355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Calibri" panose="020F0502020204030204" pitchFamily="34" charset="0"/>
              </a:rPr>
              <a:t>System Requirements</a:t>
            </a:r>
            <a:endParaRPr lang="en-IN" sz="3600" b="1" dirty="0">
              <a:solidFill>
                <a:schemeClr val="accent2">
                  <a:lumMod val="7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F68CDD-B95C-9036-A3C0-95CDEE1B3B18}"/>
              </a:ext>
            </a:extLst>
          </p:cNvPr>
          <p:cNvSpPr txBox="1"/>
          <p:nvPr/>
        </p:nvSpPr>
        <p:spPr>
          <a:xfrm>
            <a:off x="580234" y="1467803"/>
            <a:ext cx="48598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Web Server: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Apache or Nginx with </a:t>
            </a:r>
            <a:r>
              <a:rPr lang="en-US" sz="2000" b="1" dirty="0"/>
              <a:t>‘</a:t>
            </a:r>
            <a:r>
              <a:rPr lang="en-US" sz="2000" b="1" dirty="0" err="1"/>
              <a:t>mod_rewrite</a:t>
            </a:r>
            <a:r>
              <a:rPr lang="en-US" sz="2000" b="1" dirty="0"/>
              <a:t>’ </a:t>
            </a:r>
            <a:r>
              <a:rPr lang="en-US" sz="2000" dirty="0"/>
              <a:t>enabled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6882B-3330-9318-7023-3AEF80FD4DB1}"/>
              </a:ext>
            </a:extLst>
          </p:cNvPr>
          <p:cNvSpPr txBox="1"/>
          <p:nvPr/>
        </p:nvSpPr>
        <p:spPr>
          <a:xfrm>
            <a:off x="580234" y="2541645"/>
            <a:ext cx="48598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PHP: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Version 8.1 or higher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Required extension: </a:t>
            </a:r>
            <a:r>
              <a:rPr lang="en-IN" sz="2000" b="1" dirty="0" err="1"/>
              <a:t>intl</a:t>
            </a:r>
            <a:r>
              <a:rPr lang="en-IN" sz="2000" dirty="0"/>
              <a:t>, </a:t>
            </a:r>
            <a:r>
              <a:rPr lang="en-IN" sz="2000" b="1" dirty="0" err="1"/>
              <a:t>mbstring</a:t>
            </a:r>
            <a:r>
              <a:rPr lang="en-IN" sz="2000" dirty="0"/>
              <a:t>, </a:t>
            </a:r>
            <a:r>
              <a:rPr lang="en-IN" sz="2000" b="1" dirty="0" err="1"/>
              <a:t>mysqlnd</a:t>
            </a:r>
            <a:r>
              <a:rPr lang="en-IN" sz="2000" b="1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05635C-3763-2332-6D84-992158FC8704}"/>
              </a:ext>
            </a:extLst>
          </p:cNvPr>
          <p:cNvSpPr txBox="1"/>
          <p:nvPr/>
        </p:nvSpPr>
        <p:spPr>
          <a:xfrm>
            <a:off x="580233" y="3976371"/>
            <a:ext cx="48598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Database: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MySQL, or MariaDB.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8AF77E-7389-7E3B-52BB-2C11DA044F0D}"/>
              </a:ext>
            </a:extLst>
          </p:cNvPr>
          <p:cNvSpPr txBox="1"/>
          <p:nvPr/>
        </p:nvSpPr>
        <p:spPr>
          <a:xfrm>
            <a:off x="580233" y="4993847"/>
            <a:ext cx="48598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Dependency Manager: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Composer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6A44D7-E48A-62A7-B957-C2D3690D717F}"/>
              </a:ext>
            </a:extLst>
          </p:cNvPr>
          <p:cNvSpPr txBox="1"/>
          <p:nvPr/>
        </p:nvSpPr>
        <p:spPr>
          <a:xfrm>
            <a:off x="6751899" y="1459147"/>
            <a:ext cx="48598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Web Browser: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Google Chrome, Mozilla Firefox, Microsoft Edge, or Safari (any modern, up-to-date browser).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2C5B42-B5A0-774D-0693-BD408361D56D}"/>
              </a:ext>
            </a:extLst>
          </p:cNvPr>
          <p:cNvSpPr txBox="1"/>
          <p:nvPr/>
        </p:nvSpPr>
        <p:spPr>
          <a:xfrm>
            <a:off x="6751898" y="3106399"/>
            <a:ext cx="48598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Operating System: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Windows, macOS, or Linux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375D0A-BCCF-E69F-DF93-8B620B6661E7}"/>
              </a:ext>
            </a:extLst>
          </p:cNvPr>
          <p:cNvSpPr txBox="1"/>
          <p:nvPr/>
        </p:nvSpPr>
        <p:spPr>
          <a:xfrm>
            <a:off x="6751898" y="4333365"/>
            <a:ext cx="48598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Hardware: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standard computer or mobile device with an active internet connection.</a:t>
            </a:r>
          </a:p>
        </p:txBody>
      </p:sp>
    </p:spTree>
    <p:extLst>
      <p:ext uri="{BB962C8B-B14F-4D97-AF65-F5344CB8AC3E}">
        <p14:creationId xmlns:p14="http://schemas.microsoft.com/office/powerpoint/2010/main" val="3842046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990CC-D2C4-9CFD-FA13-31CE83608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4091D5-4D2E-E4B3-017A-A286584195A3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96711D-4023-412E-3B40-919E0E8DAEC4}"/>
              </a:ext>
            </a:extLst>
          </p:cNvPr>
          <p:cNvSpPr txBox="1"/>
          <p:nvPr/>
        </p:nvSpPr>
        <p:spPr>
          <a:xfrm>
            <a:off x="4363146" y="275839"/>
            <a:ext cx="777371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chemeClr val="accent2">
                    <a:lumMod val="7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Calibri" panose="020F0502020204030204" pitchFamily="34" charset="0"/>
              </a:rPr>
              <a:t>System Architecture (MVC)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3D987-569B-971D-4A87-09356B363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0438" y="275839"/>
            <a:ext cx="3744022" cy="63063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ACD891-A691-90C0-53FB-AEE02DF6D079}"/>
              </a:ext>
            </a:extLst>
          </p:cNvPr>
          <p:cNvSpPr txBox="1"/>
          <p:nvPr/>
        </p:nvSpPr>
        <p:spPr>
          <a:xfrm>
            <a:off x="4284898" y="1578457"/>
            <a:ext cx="7728155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Full Control:</a:t>
            </a:r>
            <a:r>
              <a:rPr lang="en-US" dirty="0"/>
              <a:t> Manages Menu, Categories, Staff, and Tables.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Business Oversight:</a:t>
            </a:r>
            <a:r>
              <a:rPr lang="en-US" dirty="0"/>
              <a:t> Views a comprehensive dashboard with sales analytics and order history.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System Settings:</a:t>
            </a:r>
            <a:r>
              <a:rPr lang="en-US" dirty="0"/>
              <a:t> Configures cafe details like name, address, and GST number.</a:t>
            </a:r>
          </a:p>
          <a:p>
            <a:endParaRPr lang="en-US" dirty="0"/>
          </a:p>
          <a:p>
            <a:r>
              <a:rPr lang="en-US" sz="2000" b="1" dirty="0"/>
              <a:t>Chef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Kitchen Command:</a:t>
            </a:r>
            <a:r>
              <a:rPr lang="en-US" dirty="0"/>
              <a:t> Views a dedicated dashboard for Pending and In Making orders.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Status Updates:</a:t>
            </a:r>
            <a:r>
              <a:rPr lang="en-US" dirty="0"/>
              <a:t> Updates order status to keep the entire system synchronized.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Order History:</a:t>
            </a:r>
            <a:r>
              <a:rPr lang="en-US" dirty="0"/>
              <a:t> Can review a history of all Completed orders.</a:t>
            </a:r>
          </a:p>
          <a:p>
            <a:endParaRPr lang="en-US" dirty="0"/>
          </a:p>
          <a:p>
            <a:r>
              <a:rPr lang="en-US" sz="2000" b="1" dirty="0"/>
              <a:t>Cashier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Point of Sale:</a:t>
            </a:r>
            <a:r>
              <a:rPr lang="en-US" dirty="0"/>
              <a:t> Creates new Dine-In or Take Away orders for customers.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Transaction Management:</a:t>
            </a:r>
            <a:r>
              <a:rPr lang="en-US" dirty="0"/>
              <a:t> Finalizes orders and processes payments.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 Tracking:</a:t>
            </a:r>
            <a:r>
              <a:rPr lang="en-US" dirty="0"/>
              <a:t> Views a personal dashboard summarizing their total orders and sales for the day.</a:t>
            </a:r>
          </a:p>
        </p:txBody>
      </p:sp>
    </p:spTree>
    <p:extLst>
      <p:ext uri="{BB962C8B-B14F-4D97-AF65-F5344CB8AC3E}">
        <p14:creationId xmlns:p14="http://schemas.microsoft.com/office/powerpoint/2010/main" val="1010978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3D01D-744E-95B1-C5A6-4D5D882D0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D2C0318-0505-07B2-D159-065072F60D0E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17A04D-D211-37C9-82C6-EDC7A9C51A87}"/>
              </a:ext>
            </a:extLst>
          </p:cNvPr>
          <p:cNvSpPr txBox="1"/>
          <p:nvPr/>
        </p:nvSpPr>
        <p:spPr>
          <a:xfrm>
            <a:off x="3062621" y="264264"/>
            <a:ext cx="606675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Calibri" panose="020F0502020204030204" pitchFamily="34" charset="0"/>
              </a:rPr>
              <a:t>Database Design</a:t>
            </a:r>
            <a:endParaRPr lang="en-IN" sz="4400" b="1" dirty="0">
              <a:solidFill>
                <a:schemeClr val="accent2">
                  <a:lumMod val="7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658B27-9D50-6157-810D-3E7A1C8E9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74" y="1116047"/>
            <a:ext cx="12192000" cy="4625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958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5E041-AA0C-FFDA-C784-E63CCAD40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E8F4BA-DD1F-AD5E-54E0-19FB4DC4DDE6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559994-48EC-6F94-D15A-9B2E997225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83"/>
          <a:stretch>
            <a:fillRect/>
          </a:stretch>
        </p:blipFill>
        <p:spPr>
          <a:xfrm>
            <a:off x="173004" y="275304"/>
            <a:ext cx="6811878" cy="635163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FCFC83-0572-BA14-E152-C1AED616B1BC}"/>
              </a:ext>
            </a:extLst>
          </p:cNvPr>
          <p:cNvSpPr txBox="1"/>
          <p:nvPr/>
        </p:nvSpPr>
        <p:spPr>
          <a:xfrm>
            <a:off x="8213205" y="275304"/>
            <a:ext cx="30440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Calibri" panose="020F0502020204030204" pitchFamily="34" charset="0"/>
              </a:rPr>
              <a:t>Landing Page</a:t>
            </a:r>
            <a:endParaRPr lang="en-IN" sz="3200" b="1" dirty="0">
              <a:solidFill>
                <a:schemeClr val="accent2">
                  <a:lumMod val="7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5CD703-03BF-066A-A7B9-4A326F4FB259}"/>
              </a:ext>
            </a:extLst>
          </p:cNvPr>
          <p:cNvSpPr txBox="1"/>
          <p:nvPr/>
        </p:nvSpPr>
        <p:spPr>
          <a:xfrm>
            <a:off x="7236542" y="1022555"/>
            <a:ext cx="49554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Visually Appealing Menu:</a:t>
            </a:r>
            <a:r>
              <a:rPr lang="en-US" dirty="0"/>
              <a:t> A dynamic menu carousel showcases popular items with high-quality images and prices. Menu data is fetched directly from the database, so it's always up-to-date.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Clear Call-to-Action:</a:t>
            </a:r>
            <a:r>
              <a:rPr lang="en-US" dirty="0"/>
              <a:t> A prominent </a:t>
            </a:r>
            <a:r>
              <a:rPr lang="en-US" b="1" dirty="0"/>
              <a:t>"Order Now"</a:t>
            </a:r>
            <a:r>
              <a:rPr lang="en-US" dirty="0"/>
              <a:t> button guides the user directly to the ordering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Guest &amp; Staff Separation:</a:t>
            </a:r>
            <a:r>
              <a:rPr lang="en-US" dirty="0"/>
              <a:t> This page is designed for customers (guests). Staff can access their login portal via the "Login" link in the header.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Fully Responsive:</a:t>
            </a:r>
            <a:r>
              <a:rPr lang="en-US" dirty="0"/>
              <a:t> The layout is designed with Bootstrap to be accessible and user-friendly on any device, from desktops to mobile phones.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589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4BAAA1-E5AF-3CB7-48E7-28632FB95884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4875C4-35F3-AF47-8AC3-AE92762FB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89"/>
          <a:stretch>
            <a:fillRect/>
          </a:stretch>
        </p:blipFill>
        <p:spPr>
          <a:xfrm>
            <a:off x="256897" y="1127514"/>
            <a:ext cx="7744100" cy="45746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AB5204-43C3-2B0E-98EF-31FD314D1ACC}"/>
              </a:ext>
            </a:extLst>
          </p:cNvPr>
          <p:cNvSpPr txBox="1"/>
          <p:nvPr/>
        </p:nvSpPr>
        <p:spPr>
          <a:xfrm>
            <a:off x="4136976" y="220668"/>
            <a:ext cx="4312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Calibri" panose="020F0502020204030204" pitchFamily="34" charset="0"/>
              </a:rPr>
              <a:t>Login Page</a:t>
            </a:r>
            <a:endParaRPr lang="en-IN" sz="3600" b="1" dirty="0">
              <a:solidFill>
                <a:schemeClr val="accent2">
                  <a:lumMod val="7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5F4DDD-91B5-12A2-1CC9-5655400FBAF8}"/>
              </a:ext>
            </a:extLst>
          </p:cNvPr>
          <p:cNvSpPr txBox="1"/>
          <p:nvPr/>
        </p:nvSpPr>
        <p:spPr>
          <a:xfrm>
            <a:off x="8178799" y="1219201"/>
            <a:ext cx="4159813" cy="45746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Single, Secure Entry Point:</a:t>
            </a:r>
            <a:r>
              <a:rPr lang="en-US" dirty="0"/>
              <a:t> One login page for all staff roles (Admin, Chef, Cashier).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Credential Verification: </a:t>
            </a:r>
            <a:r>
              <a:rPr lang="en-US" dirty="0"/>
              <a:t>The system validates the user's email and password against the database. Passwords are securely hashed using PHP's </a:t>
            </a:r>
            <a:r>
              <a:rPr lang="en-US" dirty="0" err="1"/>
              <a:t>password_hash</a:t>
            </a:r>
            <a:r>
              <a:rPr lang="en-US" dirty="0"/>
              <a:t>() function.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Role-Based Redirection:</a:t>
            </a:r>
            <a:r>
              <a:rPr lang="en-US" dirty="0"/>
              <a:t> - After successful login, the system identifies the user's role. It automatically redirects them to their specific dashboard (e.g., /admin/dashboard, /chef/dashboard).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10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E2052-3B19-6DD1-7EAC-9801F6F4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F2BFE4-D7F0-26CF-FC04-26D68315D61A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AE250A-5B6C-C45D-E0F4-05A26A07C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49"/>
          <a:stretch>
            <a:fillRect/>
          </a:stretch>
        </p:blipFill>
        <p:spPr>
          <a:xfrm>
            <a:off x="276550" y="989230"/>
            <a:ext cx="7488066" cy="44264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D96907D-0406-00DD-BCCF-A798460C3346}"/>
              </a:ext>
            </a:extLst>
          </p:cNvPr>
          <p:cNvSpPr txBox="1"/>
          <p:nvPr/>
        </p:nvSpPr>
        <p:spPr>
          <a:xfrm>
            <a:off x="8060267" y="1070082"/>
            <a:ext cx="41317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At-a-Glance Overview: </a:t>
            </a:r>
            <a:r>
              <a:rPr lang="en-US" dirty="0"/>
              <a:t>Real-time stats on </a:t>
            </a:r>
            <a:r>
              <a:rPr lang="en-US" b="1" dirty="0"/>
              <a:t>Today's Sales</a:t>
            </a:r>
            <a:r>
              <a:rPr lang="en-US" dirty="0"/>
              <a:t>, </a:t>
            </a:r>
            <a:r>
              <a:rPr lang="en-US" b="1" dirty="0"/>
              <a:t>Pending Orders</a:t>
            </a:r>
            <a:r>
              <a:rPr lang="en-US" dirty="0"/>
              <a:t>, total </a:t>
            </a:r>
            <a:r>
              <a:rPr lang="en-US" b="1" dirty="0"/>
              <a:t>Menu Items</a:t>
            </a:r>
            <a:r>
              <a:rPr lang="en-US" dirty="0"/>
              <a:t>, and </a:t>
            </a:r>
            <a:r>
              <a:rPr lang="en-US" b="1" dirty="0"/>
              <a:t>Available Tables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Quick Actions: </a:t>
            </a:r>
            <a:r>
              <a:rPr lang="en-US" dirty="0"/>
              <a:t>Direct links to manage core modules like </a:t>
            </a:r>
            <a:r>
              <a:rPr lang="en-US" b="1" dirty="0"/>
              <a:t>Sales History</a:t>
            </a:r>
            <a:r>
              <a:rPr lang="en-US" dirty="0"/>
              <a:t>, </a:t>
            </a:r>
            <a:r>
              <a:rPr lang="en-US" b="1" dirty="0"/>
              <a:t>Menu</a:t>
            </a:r>
            <a:r>
              <a:rPr lang="en-US" dirty="0"/>
              <a:t>, </a:t>
            </a:r>
            <a:r>
              <a:rPr lang="en-US" b="1" dirty="0"/>
              <a:t>Tables</a:t>
            </a:r>
            <a:r>
              <a:rPr lang="en-US" dirty="0"/>
              <a:t>, and </a:t>
            </a:r>
            <a:r>
              <a:rPr lang="en-US" b="1" dirty="0"/>
              <a:t>Staff</a:t>
            </a:r>
            <a:r>
              <a:rPr lang="en-US" dirty="0"/>
              <a:t>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Sales Trend: </a:t>
            </a:r>
            <a:r>
              <a:rPr lang="en-US" dirty="0"/>
              <a:t>A summary table of </a:t>
            </a:r>
            <a:r>
              <a:rPr lang="en-US" b="1" dirty="0"/>
              <a:t>Sales History for the Last 7 Days</a:t>
            </a:r>
            <a:r>
              <a:rPr lang="en-US" dirty="0"/>
              <a:t> to quickly gauge performance.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Live Order Notifications:</a:t>
            </a:r>
            <a:r>
              <a:rPr lang="en-US" dirty="0"/>
              <a:t> Instant toast notifications appear for new orders, keeping the admin constantly updated.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B950C-B869-D0E6-ED61-D7D2507DDFF2}"/>
              </a:ext>
            </a:extLst>
          </p:cNvPr>
          <p:cNvSpPr txBox="1"/>
          <p:nvPr/>
        </p:nvSpPr>
        <p:spPr>
          <a:xfrm>
            <a:off x="4136976" y="220668"/>
            <a:ext cx="4312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 Dashboard</a:t>
            </a:r>
            <a:endParaRPr lang="en-IN" sz="3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795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2210D-59F5-FCC3-0B09-D23D73F3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23A3E55-C3EB-F655-FAA2-8401DE69FD6B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492C8B-33C6-8EC0-B872-0FC3A718F7B3}"/>
              </a:ext>
            </a:extLst>
          </p:cNvPr>
          <p:cNvSpPr txBox="1"/>
          <p:nvPr/>
        </p:nvSpPr>
        <p:spPr>
          <a:xfrm>
            <a:off x="1759352" y="313981"/>
            <a:ext cx="92828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Inter Bold" panose="02000503000000020004" pitchFamily="2" charset="0"/>
                <a:ea typeface="Inter Bold" panose="02000503000000020004" pitchFamily="2" charset="0"/>
                <a:cs typeface="Calibri" panose="020F0502020204030204" pitchFamily="34" charset="0"/>
              </a:rPr>
              <a:t>Admin Side Order Management</a:t>
            </a:r>
            <a:endParaRPr lang="en-IN" sz="3600" b="1" dirty="0">
              <a:solidFill>
                <a:schemeClr val="accent2">
                  <a:lumMod val="75000"/>
                </a:schemeClr>
              </a:solidFill>
              <a:latin typeface="Inter Bold" panose="02000503000000020004" pitchFamily="2" charset="0"/>
              <a:ea typeface="Inter Bold" panose="02000503000000020004" pitchFamily="2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6723F2-C46D-5740-F528-E8A541F34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18" y="1370584"/>
            <a:ext cx="7787498" cy="41168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137C67-6C9E-2400-9064-8078EFF1D4B6}"/>
              </a:ext>
            </a:extLst>
          </p:cNvPr>
          <p:cNvSpPr txBox="1"/>
          <p:nvPr/>
        </p:nvSpPr>
        <p:spPr>
          <a:xfrm>
            <a:off x="8297333" y="1185333"/>
            <a:ext cx="403013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comprehensive </a:t>
            </a:r>
            <a:r>
              <a:rPr lang="en-US" b="1" dirty="0"/>
              <a:t>View:</a:t>
            </a:r>
            <a:r>
              <a:rPr lang="en-US" dirty="0"/>
              <a:t> Displays a complete list of </a:t>
            </a:r>
            <a:r>
              <a:rPr lang="en-US" b="1" dirty="0"/>
              <a:t>all</a:t>
            </a:r>
            <a:r>
              <a:rPr lang="en-US" dirty="0"/>
              <a:t> orders in the system, regardless of their status (Pending, In Making, Completed).</a:t>
            </a:r>
          </a:p>
          <a:p>
            <a:endParaRPr lang="en-US" dirty="0"/>
          </a:p>
          <a:p>
            <a:r>
              <a:rPr lang="en-US" b="1" dirty="0"/>
              <a:t>At-a-Glance Status:</a:t>
            </a:r>
            <a:r>
              <a:rPr lang="en-US" dirty="0"/>
              <a:t> Color-coded status badges provide a quick visual summary of the current state of every order.</a:t>
            </a:r>
          </a:p>
          <a:p>
            <a:endParaRPr lang="en-US" dirty="0"/>
          </a:p>
          <a:p>
            <a:r>
              <a:rPr lang="en-US" b="1" dirty="0"/>
              <a:t>Live Status Control: </a:t>
            </a:r>
            <a:r>
              <a:rPr lang="en-US" dirty="0"/>
              <a:t>Admins can directly override or update any order's status using the dropdown menu.</a:t>
            </a:r>
          </a:p>
          <a:p>
            <a:endParaRPr lang="en-US" dirty="0"/>
          </a:p>
          <a:p>
            <a:r>
              <a:rPr lang="en-US" b="1" dirty="0"/>
              <a:t>Full Order Management:</a:t>
            </a:r>
            <a:r>
              <a:rPr lang="en-US" dirty="0"/>
              <a:t> Admins have the ability to </a:t>
            </a:r>
            <a:r>
              <a:rPr lang="en-US" b="1" dirty="0"/>
              <a:t>View</a:t>
            </a:r>
            <a:r>
              <a:rPr lang="en-US" dirty="0"/>
              <a:t> any bill and </a:t>
            </a:r>
            <a:r>
              <a:rPr lang="en-US" b="1" dirty="0"/>
              <a:t>Delete</a:t>
            </a:r>
            <a:r>
              <a:rPr lang="en-US" dirty="0"/>
              <a:t> incorrect or canceled orders from the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0981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C9524-B35B-E01F-0CC3-74988595A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C9A550-90B7-D242-6F67-550F9F32AE4D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E098AF-FCAB-23B2-0B91-A40FA0A6027E}"/>
              </a:ext>
            </a:extLst>
          </p:cNvPr>
          <p:cNvSpPr txBox="1"/>
          <p:nvPr/>
        </p:nvSpPr>
        <p:spPr>
          <a:xfrm>
            <a:off x="7042650" y="668721"/>
            <a:ext cx="4312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Menu Management</a:t>
            </a:r>
            <a:endParaRPr lang="en-IN" sz="3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A8086-99FD-7A55-404F-7B1B3E56D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518592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21A1A1-BC5C-32F8-F345-56A3FAF9C912}"/>
              </a:ext>
            </a:extLst>
          </p:cNvPr>
          <p:cNvSpPr txBox="1"/>
          <p:nvPr/>
        </p:nvSpPr>
        <p:spPr>
          <a:xfrm>
            <a:off x="5909733" y="1474486"/>
            <a:ext cx="628226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Centralized Menu Overview:</a:t>
            </a:r>
            <a:r>
              <a:rPr lang="en-US" dirty="0"/>
              <a:t> A clean, tabular view of all menu items with their image, name, category, and price.</a:t>
            </a:r>
          </a:p>
          <a:p>
            <a:endParaRPr lang="en-US" dirty="0"/>
          </a:p>
          <a:p>
            <a:r>
              <a:rPr lang="en-US" b="1" dirty="0"/>
              <a:t>Easy Item Creation:</a:t>
            </a:r>
            <a:r>
              <a:rPr lang="en-US" dirty="0"/>
              <a:t> The "Add New Item" button opens a simple form for adding new products to the menu, including image uploads.</a:t>
            </a:r>
          </a:p>
          <a:p>
            <a:endParaRPr lang="en-US" dirty="0"/>
          </a:p>
          <a:p>
            <a:r>
              <a:rPr lang="en-US" b="1" dirty="0"/>
              <a:t>Full CRUD Operations:</a:t>
            </a:r>
            <a:r>
              <a:rPr lang="en-US" dirty="0"/>
              <a:t> Admins have completed </a:t>
            </a:r>
            <a:r>
              <a:rPr lang="en-US" b="1" dirty="0"/>
              <a:t>C</a:t>
            </a:r>
            <a:r>
              <a:rPr lang="en-US" dirty="0"/>
              <a:t>reate, </a:t>
            </a:r>
            <a:r>
              <a:rPr lang="en-US" b="1" dirty="0"/>
              <a:t>R</a:t>
            </a:r>
            <a:r>
              <a:rPr lang="en-US" dirty="0"/>
              <a:t>ead, </a:t>
            </a:r>
            <a:r>
              <a:rPr lang="en-US" b="1" dirty="0"/>
              <a:t>U</a:t>
            </a:r>
            <a:r>
              <a:rPr lang="en-US" dirty="0"/>
              <a:t>pdate, and </a:t>
            </a:r>
            <a:r>
              <a:rPr lang="en-US" b="1" dirty="0"/>
              <a:t>D</a:t>
            </a:r>
            <a:r>
              <a:rPr lang="en-US" dirty="0"/>
              <a:t>elete capabilities for all menu items.</a:t>
            </a:r>
          </a:p>
          <a:p>
            <a:endParaRPr lang="en-US" dirty="0"/>
          </a:p>
          <a:p>
            <a:r>
              <a:rPr lang="en-US" b="1" dirty="0"/>
              <a:t>Image &amp; Category Management:</a:t>
            </a:r>
            <a:r>
              <a:rPr lang="en-US" dirty="0"/>
              <a:t> - Allows for easy updates to an item's image, price, and category, ensuring the customer-facing menu is always accurate.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5105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23EDC-0EB6-BBE7-1B22-DF4E251DC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F79DA4-C468-C589-EC49-C3C3878B9942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1207A0-C5A9-046B-55F8-02D2DC781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57"/>
          <a:stretch>
            <a:fillRect/>
          </a:stretch>
        </p:blipFill>
        <p:spPr>
          <a:xfrm>
            <a:off x="203203" y="990934"/>
            <a:ext cx="7315200" cy="48592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35AC48-DADD-7A34-78E8-107FDFE244FE}"/>
              </a:ext>
            </a:extLst>
          </p:cNvPr>
          <p:cNvSpPr txBox="1"/>
          <p:nvPr/>
        </p:nvSpPr>
        <p:spPr>
          <a:xfrm>
            <a:off x="7978391" y="1184364"/>
            <a:ext cx="421360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Focused Order Queue:</a:t>
            </a:r>
            <a:r>
              <a:rPr lang="en-US" dirty="0"/>
              <a:t> Displays only Pending and In Making orders, providing a clear and actionable to-do list.</a:t>
            </a:r>
          </a:p>
          <a:p>
            <a:endParaRPr lang="en-US" dirty="0"/>
          </a:p>
          <a:p>
            <a:r>
              <a:rPr lang="en-US" b="1" dirty="0"/>
              <a:t>Detailed Order View:</a:t>
            </a:r>
            <a:r>
              <a:rPr lang="en-US" dirty="0"/>
              <a:t> Chefs can expand each order to see a detailed list of items and their quantities.</a:t>
            </a:r>
          </a:p>
          <a:p>
            <a:endParaRPr lang="en-US" dirty="0"/>
          </a:p>
          <a:p>
            <a:r>
              <a:rPr lang="en-US" b="1" dirty="0"/>
              <a:t>Real-Time Status Updates:</a:t>
            </a:r>
            <a:r>
              <a:rPr lang="en-US" dirty="0"/>
              <a:t> The chef can change an order's status from Pending to In Making or Completed.</a:t>
            </a:r>
          </a:p>
          <a:p>
            <a:endParaRPr lang="en-US" dirty="0"/>
          </a:p>
          <a:p>
            <a:r>
              <a:rPr lang="en-US" b="1" dirty="0"/>
              <a:t>Task Completion: </a:t>
            </a:r>
            <a:r>
              <a:rPr lang="en-US" dirty="0"/>
              <a:t>Marking an order as Completed removes it from the queue and can free up the table for new customers.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CAE93C-F069-8FED-C77F-A3D1A21E73E8}"/>
              </a:ext>
            </a:extLst>
          </p:cNvPr>
          <p:cNvSpPr txBox="1"/>
          <p:nvPr/>
        </p:nvSpPr>
        <p:spPr>
          <a:xfrm>
            <a:off x="4136976" y="220668"/>
            <a:ext cx="4312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Chef Dashboard</a:t>
            </a:r>
            <a:endParaRPr lang="en-IN" sz="3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181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8DBEF-F6E5-9373-7F5E-160C5DA9C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36F5A3-96E5-F6F6-90B5-C7BD4617A08B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CBC5D1-8169-CBA4-1D02-1776DDF13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036"/>
          <a:stretch>
            <a:fillRect/>
          </a:stretch>
        </p:blipFill>
        <p:spPr>
          <a:xfrm>
            <a:off x="1075593" y="745579"/>
            <a:ext cx="10098390" cy="41017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E842403-121A-D674-3ED0-9F38B4F92427}"/>
              </a:ext>
            </a:extLst>
          </p:cNvPr>
          <p:cNvSpPr txBox="1"/>
          <p:nvPr/>
        </p:nvSpPr>
        <p:spPr>
          <a:xfrm>
            <a:off x="4136976" y="24022"/>
            <a:ext cx="4312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Cashier Dashboard</a:t>
            </a:r>
            <a:endParaRPr lang="en-IN" sz="3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DF3663-EFA4-BF4D-F1A4-70BCC58510EA}"/>
              </a:ext>
            </a:extLst>
          </p:cNvPr>
          <p:cNvSpPr txBox="1"/>
          <p:nvPr/>
        </p:nvSpPr>
        <p:spPr>
          <a:xfrm>
            <a:off x="422787" y="5002678"/>
            <a:ext cx="54569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Personalized &amp; Simple:</a:t>
            </a:r>
            <a:r>
              <a:rPr lang="en-US" dirty="0"/>
              <a:t> A minimal interface showing only the cashier's </a:t>
            </a:r>
            <a:r>
              <a:rPr lang="en-US" b="1" dirty="0"/>
              <a:t>own</a:t>
            </a:r>
            <a:r>
              <a:rPr lang="en-US" dirty="0"/>
              <a:t> sales and orders for the day.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New Order Creation: </a:t>
            </a:r>
            <a:r>
              <a:rPr lang="en-US" dirty="0"/>
              <a:t>The primary action is the </a:t>
            </a:r>
            <a:r>
              <a:rPr lang="en-US" b="1" dirty="0"/>
              <a:t>'New Order'</a:t>
            </a:r>
            <a:r>
              <a:rPr lang="en-US" dirty="0"/>
              <a:t> button, which takes them directly to the point-of-sale interface.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90E5DE-DB09-CCA4-D8E2-DB8D1A4FC640}"/>
              </a:ext>
            </a:extLst>
          </p:cNvPr>
          <p:cNvSpPr txBox="1"/>
          <p:nvPr/>
        </p:nvSpPr>
        <p:spPr>
          <a:xfrm>
            <a:off x="6302480" y="4903615"/>
            <a:ext cx="61732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Quick Access to Sales:</a:t>
            </a:r>
            <a:r>
              <a:rPr lang="en-US" dirty="0"/>
              <a:t> A link to </a:t>
            </a:r>
            <a:r>
              <a:rPr lang="en-US" b="1" dirty="0"/>
              <a:t>'View Sales History'</a:t>
            </a:r>
            <a:r>
              <a:rPr lang="en-US" dirty="0"/>
              <a:t> allows them to review past transactions and reports relevant to their role.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Focused Workflow:</a:t>
            </a:r>
            <a:r>
              <a:rPr lang="en-US" dirty="0"/>
              <a:t> No access to sensitive admin functions, ensuring a secure and focused workflow for front-of-house staff.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35317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74CCA-DDE0-73D1-3B94-8BE3BC243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92A390-738D-732C-1753-710B12C665DE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B137A-9AE5-3D2A-1E94-F98AF447B7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317168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19A3D8-1640-E63A-58A9-81E9817FBE99}"/>
              </a:ext>
            </a:extLst>
          </p:cNvPr>
          <p:cNvSpPr txBox="1"/>
          <p:nvPr/>
        </p:nvSpPr>
        <p:spPr>
          <a:xfrm>
            <a:off x="4667558" y="1544320"/>
            <a:ext cx="7467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Categorized Menu Display:</a:t>
            </a:r>
            <a:r>
              <a:rPr lang="en-US" dirty="0"/>
              <a:t> The menu is neatly organized by categories like "Beverages," "Snacks," and "Desserts". Each item is shown with a clear image, name, and price.</a:t>
            </a:r>
          </a:p>
          <a:p>
            <a:endParaRPr lang="en-US" dirty="0"/>
          </a:p>
          <a:p>
            <a:r>
              <a:rPr lang="en-US" b="1" dirty="0"/>
              <a:t>Interactive Live Cart:</a:t>
            </a:r>
            <a:r>
              <a:rPr lang="en-US" dirty="0"/>
              <a:t> Clicking "Add" instantly moves an item to the "Your Order" section without a page reload. Users can easily adjust quantities or remove items directly in the cart.</a:t>
            </a:r>
          </a:p>
          <a:p>
            <a:endParaRPr lang="en-US" dirty="0"/>
          </a:p>
          <a:p>
            <a:r>
              <a:rPr lang="en-US" b="1" dirty="0"/>
              <a:t>Real-Time Calculation:</a:t>
            </a:r>
            <a:r>
              <a:rPr lang="en-US" dirty="0"/>
              <a:t> The subtotal, GST (set at 5%), and grand total are automatically recalculated with every change.</a:t>
            </a:r>
          </a:p>
          <a:p>
            <a:endParaRPr lang="en-US" dirty="0"/>
          </a:p>
          <a:p>
            <a:r>
              <a:rPr lang="en-US" b="1" dirty="0"/>
              <a:t>Sticky Checkout Bar: </a:t>
            </a:r>
            <a:r>
              <a:rPr lang="en-US" dirty="0"/>
              <a:t>A persistent bar at the bottom of the screen always shows the total items and amount, with a clear "Proceed to Checkout" button for a seamless user journey.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E529C9-8169-F374-6B7B-534825F71B12}"/>
              </a:ext>
            </a:extLst>
          </p:cNvPr>
          <p:cNvSpPr txBox="1"/>
          <p:nvPr/>
        </p:nvSpPr>
        <p:spPr>
          <a:xfrm>
            <a:off x="6245006" y="352475"/>
            <a:ext cx="43127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side Order Page</a:t>
            </a:r>
          </a:p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(Without Login)</a:t>
            </a:r>
            <a:endParaRPr lang="en-IN" sz="3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0413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72B24A5-D51A-C0AE-4D23-A83E60898004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D5B56B-435D-3C7C-5927-6161C80C1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151"/>
          <a:stretch>
            <a:fillRect/>
          </a:stretch>
        </p:blipFill>
        <p:spPr>
          <a:xfrm>
            <a:off x="2922334" y="988731"/>
            <a:ext cx="6144131" cy="24934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FE2AFF-D7D1-CB8E-F6DF-4BEA5A23E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553"/>
          <a:stretch>
            <a:fillRect/>
          </a:stretch>
        </p:blipFill>
        <p:spPr>
          <a:xfrm>
            <a:off x="203200" y="3825241"/>
            <a:ext cx="5632566" cy="26771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05E88A-97DD-F3D0-A667-4EC84C80FB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987"/>
          <a:stretch>
            <a:fillRect/>
          </a:stretch>
        </p:blipFill>
        <p:spPr>
          <a:xfrm>
            <a:off x="5978006" y="3825240"/>
            <a:ext cx="6386498" cy="26771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Arrow: Down 13">
            <a:extLst>
              <a:ext uri="{FF2B5EF4-FFF2-40B4-BE49-F238E27FC236}">
                <a16:creationId xmlns:a16="http://schemas.microsoft.com/office/drawing/2014/main" id="{96BDA608-E653-BD9B-6FA3-6840D6396A86}"/>
              </a:ext>
            </a:extLst>
          </p:cNvPr>
          <p:cNvSpPr/>
          <p:nvPr/>
        </p:nvSpPr>
        <p:spPr>
          <a:xfrm>
            <a:off x="375920" y="1331746"/>
            <a:ext cx="2225040" cy="2493494"/>
          </a:xfrm>
          <a:custGeom>
            <a:avLst/>
            <a:gdLst>
              <a:gd name="connsiteX0" fmla="*/ 0 w 2225040"/>
              <a:gd name="connsiteY0" fmla="*/ 1380974 h 2493494"/>
              <a:gd name="connsiteX1" fmla="*/ 556260 w 2225040"/>
              <a:gd name="connsiteY1" fmla="*/ 1380974 h 2493494"/>
              <a:gd name="connsiteX2" fmla="*/ 556260 w 2225040"/>
              <a:gd name="connsiteY2" fmla="*/ 934459 h 2493494"/>
              <a:gd name="connsiteX3" fmla="*/ 556260 w 2225040"/>
              <a:gd name="connsiteY3" fmla="*/ 487944 h 2493494"/>
              <a:gd name="connsiteX4" fmla="*/ 556260 w 2225040"/>
              <a:gd name="connsiteY4" fmla="*/ 0 h 2493494"/>
              <a:gd name="connsiteX5" fmla="*/ 1123645 w 2225040"/>
              <a:gd name="connsiteY5" fmla="*/ 0 h 2493494"/>
              <a:gd name="connsiteX6" fmla="*/ 1668780 w 2225040"/>
              <a:gd name="connsiteY6" fmla="*/ 0 h 2493494"/>
              <a:gd name="connsiteX7" fmla="*/ 1668780 w 2225040"/>
              <a:gd name="connsiteY7" fmla="*/ 460325 h 2493494"/>
              <a:gd name="connsiteX8" fmla="*/ 1668780 w 2225040"/>
              <a:gd name="connsiteY8" fmla="*/ 906840 h 2493494"/>
              <a:gd name="connsiteX9" fmla="*/ 1668780 w 2225040"/>
              <a:gd name="connsiteY9" fmla="*/ 1380974 h 2493494"/>
              <a:gd name="connsiteX10" fmla="*/ 2225040 w 2225040"/>
              <a:gd name="connsiteY10" fmla="*/ 1380974 h 2493494"/>
              <a:gd name="connsiteX11" fmla="*/ 1843075 w 2225040"/>
              <a:gd name="connsiteY11" fmla="*/ 1762939 h 2493494"/>
              <a:gd name="connsiteX12" fmla="*/ 1461110 w 2225040"/>
              <a:gd name="connsiteY12" fmla="*/ 2144904 h 2493494"/>
              <a:gd name="connsiteX13" fmla="*/ 1112520 w 2225040"/>
              <a:gd name="connsiteY13" fmla="*/ 2493494 h 2493494"/>
              <a:gd name="connsiteX14" fmla="*/ 730555 w 2225040"/>
              <a:gd name="connsiteY14" fmla="*/ 2111529 h 2493494"/>
              <a:gd name="connsiteX15" fmla="*/ 348590 w 2225040"/>
              <a:gd name="connsiteY15" fmla="*/ 1729564 h 2493494"/>
              <a:gd name="connsiteX16" fmla="*/ 0 w 2225040"/>
              <a:gd name="connsiteY16" fmla="*/ 1380974 h 249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5040" h="2493494" fill="none" extrusionOk="0">
                <a:moveTo>
                  <a:pt x="0" y="1380974"/>
                </a:moveTo>
                <a:cubicBezTo>
                  <a:pt x="130322" y="1354197"/>
                  <a:pt x="416196" y="1396549"/>
                  <a:pt x="556260" y="1380974"/>
                </a:cubicBezTo>
                <a:cubicBezTo>
                  <a:pt x="513410" y="1181686"/>
                  <a:pt x="588306" y="1126332"/>
                  <a:pt x="556260" y="934459"/>
                </a:cubicBezTo>
                <a:cubicBezTo>
                  <a:pt x="524214" y="742586"/>
                  <a:pt x="583411" y="616295"/>
                  <a:pt x="556260" y="487944"/>
                </a:cubicBezTo>
                <a:cubicBezTo>
                  <a:pt x="529109" y="359593"/>
                  <a:pt x="608095" y="121259"/>
                  <a:pt x="556260" y="0"/>
                </a:cubicBezTo>
                <a:cubicBezTo>
                  <a:pt x="727156" y="-52492"/>
                  <a:pt x="931624" y="64650"/>
                  <a:pt x="1123645" y="0"/>
                </a:cubicBezTo>
                <a:cubicBezTo>
                  <a:pt x="1315666" y="-64650"/>
                  <a:pt x="1546557" y="13162"/>
                  <a:pt x="1668780" y="0"/>
                </a:cubicBezTo>
                <a:cubicBezTo>
                  <a:pt x="1702544" y="179190"/>
                  <a:pt x="1653146" y="363051"/>
                  <a:pt x="1668780" y="460325"/>
                </a:cubicBezTo>
                <a:cubicBezTo>
                  <a:pt x="1684414" y="557599"/>
                  <a:pt x="1636437" y="816981"/>
                  <a:pt x="1668780" y="906840"/>
                </a:cubicBezTo>
                <a:cubicBezTo>
                  <a:pt x="1701123" y="996699"/>
                  <a:pt x="1667105" y="1281128"/>
                  <a:pt x="1668780" y="1380974"/>
                </a:cubicBezTo>
                <a:cubicBezTo>
                  <a:pt x="1781115" y="1320053"/>
                  <a:pt x="2023357" y="1391784"/>
                  <a:pt x="2225040" y="1380974"/>
                </a:cubicBezTo>
                <a:cubicBezTo>
                  <a:pt x="2136026" y="1507348"/>
                  <a:pt x="2005744" y="1555724"/>
                  <a:pt x="1843075" y="1762939"/>
                </a:cubicBezTo>
                <a:cubicBezTo>
                  <a:pt x="1680406" y="1970154"/>
                  <a:pt x="1582952" y="2016934"/>
                  <a:pt x="1461110" y="2144904"/>
                </a:cubicBezTo>
                <a:cubicBezTo>
                  <a:pt x="1339268" y="2272874"/>
                  <a:pt x="1217798" y="2311171"/>
                  <a:pt x="1112520" y="2493494"/>
                </a:cubicBezTo>
                <a:cubicBezTo>
                  <a:pt x="947608" y="2349273"/>
                  <a:pt x="888071" y="2203705"/>
                  <a:pt x="730555" y="2111529"/>
                </a:cubicBezTo>
                <a:cubicBezTo>
                  <a:pt x="573039" y="2019353"/>
                  <a:pt x="561992" y="1859860"/>
                  <a:pt x="348590" y="1729564"/>
                </a:cubicBezTo>
                <a:cubicBezTo>
                  <a:pt x="135188" y="1599268"/>
                  <a:pt x="166437" y="1538749"/>
                  <a:pt x="0" y="1380974"/>
                </a:cubicBezTo>
                <a:close/>
              </a:path>
              <a:path w="2225040" h="2493494" stroke="0" extrusionOk="0">
                <a:moveTo>
                  <a:pt x="0" y="1380974"/>
                </a:moveTo>
                <a:cubicBezTo>
                  <a:pt x="194525" y="1344169"/>
                  <a:pt x="353878" y="1425425"/>
                  <a:pt x="556260" y="1380974"/>
                </a:cubicBezTo>
                <a:cubicBezTo>
                  <a:pt x="528014" y="1247522"/>
                  <a:pt x="590112" y="1087889"/>
                  <a:pt x="556260" y="934459"/>
                </a:cubicBezTo>
                <a:cubicBezTo>
                  <a:pt x="522408" y="781029"/>
                  <a:pt x="603455" y="634615"/>
                  <a:pt x="556260" y="474134"/>
                </a:cubicBezTo>
                <a:cubicBezTo>
                  <a:pt x="509065" y="313653"/>
                  <a:pt x="568135" y="199579"/>
                  <a:pt x="556260" y="0"/>
                </a:cubicBezTo>
                <a:cubicBezTo>
                  <a:pt x="696938" y="-34241"/>
                  <a:pt x="835626" y="47853"/>
                  <a:pt x="1079144" y="0"/>
                </a:cubicBezTo>
                <a:cubicBezTo>
                  <a:pt x="1322662" y="-47853"/>
                  <a:pt x="1468479" y="40945"/>
                  <a:pt x="1668780" y="0"/>
                </a:cubicBezTo>
                <a:cubicBezTo>
                  <a:pt x="1688672" y="187423"/>
                  <a:pt x="1631266" y="254722"/>
                  <a:pt x="1668780" y="446515"/>
                </a:cubicBezTo>
                <a:cubicBezTo>
                  <a:pt x="1706294" y="638309"/>
                  <a:pt x="1666964" y="728651"/>
                  <a:pt x="1668780" y="920649"/>
                </a:cubicBezTo>
                <a:cubicBezTo>
                  <a:pt x="1670596" y="1112647"/>
                  <a:pt x="1642715" y="1161575"/>
                  <a:pt x="1668780" y="1380974"/>
                </a:cubicBezTo>
                <a:cubicBezTo>
                  <a:pt x="1866782" y="1335809"/>
                  <a:pt x="2033304" y="1418731"/>
                  <a:pt x="2225040" y="1380974"/>
                </a:cubicBezTo>
                <a:cubicBezTo>
                  <a:pt x="2128215" y="1514117"/>
                  <a:pt x="1923377" y="1624000"/>
                  <a:pt x="1865325" y="1740689"/>
                </a:cubicBezTo>
                <a:cubicBezTo>
                  <a:pt x="1807273" y="1857378"/>
                  <a:pt x="1625633" y="1913929"/>
                  <a:pt x="1505610" y="2100404"/>
                </a:cubicBezTo>
                <a:cubicBezTo>
                  <a:pt x="1385587" y="2286879"/>
                  <a:pt x="1252297" y="2350084"/>
                  <a:pt x="1112520" y="2493494"/>
                </a:cubicBezTo>
                <a:cubicBezTo>
                  <a:pt x="907163" y="2379139"/>
                  <a:pt x="935481" y="2263552"/>
                  <a:pt x="730555" y="2111529"/>
                </a:cubicBezTo>
                <a:cubicBezTo>
                  <a:pt x="525629" y="1959506"/>
                  <a:pt x="540042" y="1902235"/>
                  <a:pt x="381965" y="1762939"/>
                </a:cubicBezTo>
                <a:cubicBezTo>
                  <a:pt x="223888" y="1623643"/>
                  <a:pt x="103693" y="1475590"/>
                  <a:pt x="0" y="1380974"/>
                </a:cubicBez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509552946">
                  <a:prstGeom prst="down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</a:t>
            </a:r>
            <a:r>
              <a:rPr lang="en-US" b="1" dirty="0"/>
              <a:t>‘Eat Here’</a:t>
            </a:r>
            <a:r>
              <a:rPr lang="en-US" dirty="0"/>
              <a:t> is Choose by Customer</a:t>
            </a:r>
            <a:endParaRPr lang="en-IN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5C643E41-82A6-C08E-58D7-D959FD11CB58}"/>
              </a:ext>
            </a:extLst>
          </p:cNvPr>
          <p:cNvSpPr/>
          <p:nvPr/>
        </p:nvSpPr>
        <p:spPr>
          <a:xfrm>
            <a:off x="9509760" y="1331745"/>
            <a:ext cx="2225040" cy="2493494"/>
          </a:xfrm>
          <a:custGeom>
            <a:avLst/>
            <a:gdLst>
              <a:gd name="connsiteX0" fmla="*/ 0 w 2225040"/>
              <a:gd name="connsiteY0" fmla="*/ 1380974 h 2493494"/>
              <a:gd name="connsiteX1" fmla="*/ 556260 w 2225040"/>
              <a:gd name="connsiteY1" fmla="*/ 1380974 h 2493494"/>
              <a:gd name="connsiteX2" fmla="*/ 556260 w 2225040"/>
              <a:gd name="connsiteY2" fmla="*/ 920649 h 2493494"/>
              <a:gd name="connsiteX3" fmla="*/ 556260 w 2225040"/>
              <a:gd name="connsiteY3" fmla="*/ 501754 h 2493494"/>
              <a:gd name="connsiteX4" fmla="*/ 556260 w 2225040"/>
              <a:gd name="connsiteY4" fmla="*/ 0 h 2493494"/>
              <a:gd name="connsiteX5" fmla="*/ 1090270 w 2225040"/>
              <a:gd name="connsiteY5" fmla="*/ 0 h 2493494"/>
              <a:gd name="connsiteX6" fmla="*/ 1668780 w 2225040"/>
              <a:gd name="connsiteY6" fmla="*/ 0 h 2493494"/>
              <a:gd name="connsiteX7" fmla="*/ 1668780 w 2225040"/>
              <a:gd name="connsiteY7" fmla="*/ 487944 h 2493494"/>
              <a:gd name="connsiteX8" fmla="*/ 1668780 w 2225040"/>
              <a:gd name="connsiteY8" fmla="*/ 948269 h 2493494"/>
              <a:gd name="connsiteX9" fmla="*/ 1668780 w 2225040"/>
              <a:gd name="connsiteY9" fmla="*/ 1380974 h 2493494"/>
              <a:gd name="connsiteX10" fmla="*/ 2225040 w 2225040"/>
              <a:gd name="connsiteY10" fmla="*/ 1380974 h 2493494"/>
              <a:gd name="connsiteX11" fmla="*/ 1865325 w 2225040"/>
              <a:gd name="connsiteY11" fmla="*/ 1740689 h 2493494"/>
              <a:gd name="connsiteX12" fmla="*/ 1527861 w 2225040"/>
              <a:gd name="connsiteY12" fmla="*/ 2078153 h 2493494"/>
              <a:gd name="connsiteX13" fmla="*/ 1112520 w 2225040"/>
              <a:gd name="connsiteY13" fmla="*/ 2493494 h 2493494"/>
              <a:gd name="connsiteX14" fmla="*/ 775056 w 2225040"/>
              <a:gd name="connsiteY14" fmla="*/ 2156030 h 2493494"/>
              <a:gd name="connsiteX15" fmla="*/ 437591 w 2225040"/>
              <a:gd name="connsiteY15" fmla="*/ 1818565 h 2493494"/>
              <a:gd name="connsiteX16" fmla="*/ 0 w 2225040"/>
              <a:gd name="connsiteY16" fmla="*/ 1380974 h 249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25040" h="2493494" fill="none" extrusionOk="0">
                <a:moveTo>
                  <a:pt x="0" y="1380974"/>
                </a:moveTo>
                <a:cubicBezTo>
                  <a:pt x="164507" y="1344827"/>
                  <a:pt x="281221" y="1414934"/>
                  <a:pt x="556260" y="1380974"/>
                </a:cubicBezTo>
                <a:cubicBezTo>
                  <a:pt x="546783" y="1258370"/>
                  <a:pt x="560886" y="1131174"/>
                  <a:pt x="556260" y="920649"/>
                </a:cubicBezTo>
                <a:cubicBezTo>
                  <a:pt x="551634" y="710124"/>
                  <a:pt x="580362" y="648449"/>
                  <a:pt x="556260" y="501754"/>
                </a:cubicBezTo>
                <a:cubicBezTo>
                  <a:pt x="532158" y="355059"/>
                  <a:pt x="558905" y="146017"/>
                  <a:pt x="556260" y="0"/>
                </a:cubicBezTo>
                <a:cubicBezTo>
                  <a:pt x="776961" y="-60849"/>
                  <a:pt x="827183" y="9828"/>
                  <a:pt x="1090270" y="0"/>
                </a:cubicBezTo>
                <a:cubicBezTo>
                  <a:pt x="1353357" y="-9828"/>
                  <a:pt x="1512850" y="2480"/>
                  <a:pt x="1668780" y="0"/>
                </a:cubicBezTo>
                <a:cubicBezTo>
                  <a:pt x="1683227" y="235977"/>
                  <a:pt x="1651579" y="246289"/>
                  <a:pt x="1668780" y="487944"/>
                </a:cubicBezTo>
                <a:cubicBezTo>
                  <a:pt x="1685981" y="729599"/>
                  <a:pt x="1644007" y="766468"/>
                  <a:pt x="1668780" y="948269"/>
                </a:cubicBezTo>
                <a:cubicBezTo>
                  <a:pt x="1693553" y="1130071"/>
                  <a:pt x="1628085" y="1191477"/>
                  <a:pt x="1668780" y="1380974"/>
                </a:cubicBezTo>
                <a:cubicBezTo>
                  <a:pt x="1857849" y="1327370"/>
                  <a:pt x="2025649" y="1430839"/>
                  <a:pt x="2225040" y="1380974"/>
                </a:cubicBezTo>
                <a:cubicBezTo>
                  <a:pt x="2110196" y="1543167"/>
                  <a:pt x="1999333" y="1574630"/>
                  <a:pt x="1865325" y="1740689"/>
                </a:cubicBezTo>
                <a:cubicBezTo>
                  <a:pt x="1731317" y="1906748"/>
                  <a:pt x="1666578" y="1899351"/>
                  <a:pt x="1527861" y="2078153"/>
                </a:cubicBezTo>
                <a:cubicBezTo>
                  <a:pt x="1389144" y="2256955"/>
                  <a:pt x="1181347" y="2376468"/>
                  <a:pt x="1112520" y="2493494"/>
                </a:cubicBezTo>
                <a:cubicBezTo>
                  <a:pt x="957202" y="2381869"/>
                  <a:pt x="930166" y="2263712"/>
                  <a:pt x="775056" y="2156030"/>
                </a:cubicBezTo>
                <a:cubicBezTo>
                  <a:pt x="619946" y="2048348"/>
                  <a:pt x="568091" y="1913412"/>
                  <a:pt x="437591" y="1818565"/>
                </a:cubicBezTo>
                <a:cubicBezTo>
                  <a:pt x="307091" y="1723718"/>
                  <a:pt x="168037" y="1463540"/>
                  <a:pt x="0" y="1380974"/>
                </a:cubicBezTo>
                <a:close/>
              </a:path>
              <a:path w="2225040" h="2493494" stroke="0" extrusionOk="0">
                <a:moveTo>
                  <a:pt x="0" y="1380974"/>
                </a:moveTo>
                <a:cubicBezTo>
                  <a:pt x="156964" y="1347007"/>
                  <a:pt x="339196" y="1393482"/>
                  <a:pt x="556260" y="1380974"/>
                </a:cubicBezTo>
                <a:cubicBezTo>
                  <a:pt x="541679" y="1200924"/>
                  <a:pt x="559962" y="1077260"/>
                  <a:pt x="556260" y="893030"/>
                </a:cubicBezTo>
                <a:cubicBezTo>
                  <a:pt x="552558" y="708800"/>
                  <a:pt x="584936" y="645673"/>
                  <a:pt x="556260" y="432705"/>
                </a:cubicBezTo>
                <a:cubicBezTo>
                  <a:pt x="527584" y="219738"/>
                  <a:pt x="557672" y="187985"/>
                  <a:pt x="556260" y="0"/>
                </a:cubicBezTo>
                <a:cubicBezTo>
                  <a:pt x="794561" y="-56538"/>
                  <a:pt x="927643" y="2113"/>
                  <a:pt x="1079144" y="0"/>
                </a:cubicBezTo>
                <a:cubicBezTo>
                  <a:pt x="1230645" y="-2113"/>
                  <a:pt x="1442738" y="11082"/>
                  <a:pt x="1668780" y="0"/>
                </a:cubicBezTo>
                <a:cubicBezTo>
                  <a:pt x="1687615" y="187211"/>
                  <a:pt x="1662448" y="311399"/>
                  <a:pt x="1668780" y="474134"/>
                </a:cubicBezTo>
                <a:cubicBezTo>
                  <a:pt x="1675112" y="636869"/>
                  <a:pt x="1639453" y="731601"/>
                  <a:pt x="1668780" y="920649"/>
                </a:cubicBezTo>
                <a:cubicBezTo>
                  <a:pt x="1698107" y="1109698"/>
                  <a:pt x="1663233" y="1234137"/>
                  <a:pt x="1668780" y="1380974"/>
                </a:cubicBezTo>
                <a:cubicBezTo>
                  <a:pt x="1915144" y="1335782"/>
                  <a:pt x="2048480" y="1392041"/>
                  <a:pt x="2225040" y="1380974"/>
                </a:cubicBezTo>
                <a:cubicBezTo>
                  <a:pt x="2099206" y="1591072"/>
                  <a:pt x="1921659" y="1599592"/>
                  <a:pt x="1831950" y="1774064"/>
                </a:cubicBezTo>
                <a:cubicBezTo>
                  <a:pt x="1742241" y="1948536"/>
                  <a:pt x="1554970" y="2027114"/>
                  <a:pt x="1483360" y="2122654"/>
                </a:cubicBezTo>
                <a:cubicBezTo>
                  <a:pt x="1411750" y="2218194"/>
                  <a:pt x="1241004" y="2336010"/>
                  <a:pt x="1112520" y="2493494"/>
                </a:cubicBezTo>
                <a:cubicBezTo>
                  <a:pt x="970593" y="2352937"/>
                  <a:pt x="902528" y="2203292"/>
                  <a:pt x="752805" y="2133779"/>
                </a:cubicBezTo>
                <a:cubicBezTo>
                  <a:pt x="603082" y="2064266"/>
                  <a:pt x="586480" y="1898925"/>
                  <a:pt x="393090" y="1774064"/>
                </a:cubicBezTo>
                <a:cubicBezTo>
                  <a:pt x="199700" y="1649203"/>
                  <a:pt x="153750" y="1459156"/>
                  <a:pt x="0" y="1380974"/>
                </a:cubicBez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13761647">
                  <a:prstGeom prst="downArrow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If </a:t>
            </a:r>
            <a:r>
              <a:rPr lang="en-US" b="1" dirty="0"/>
              <a:t>‘Take Away’</a:t>
            </a:r>
            <a:r>
              <a:rPr lang="en-US" dirty="0"/>
              <a:t> is Choose by Customer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2D4744-7BF4-AFAE-34E6-9E340770C048}"/>
              </a:ext>
            </a:extLst>
          </p:cNvPr>
          <p:cNvSpPr txBox="1"/>
          <p:nvPr/>
        </p:nvSpPr>
        <p:spPr>
          <a:xfrm>
            <a:off x="4076262" y="126849"/>
            <a:ext cx="43127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 Type Selection</a:t>
            </a:r>
          </a:p>
        </p:txBody>
      </p:sp>
    </p:spTree>
    <p:extLst>
      <p:ext uri="{BB962C8B-B14F-4D97-AF65-F5344CB8AC3E}">
        <p14:creationId xmlns:p14="http://schemas.microsoft.com/office/powerpoint/2010/main" val="212675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11295-E740-4F8A-A79D-E33059B34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297385-3EBF-D042-D68B-89AF5A4012F3}"/>
              </a:ext>
            </a:extLst>
          </p:cNvPr>
          <p:cNvSpPr/>
          <p:nvPr/>
        </p:nvSpPr>
        <p:spPr>
          <a:xfrm>
            <a:off x="0" y="0"/>
            <a:ext cx="12485549" cy="6857999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191B76-4D63-BF11-14F3-673860941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3892707"/>
              </p:ext>
            </p:extLst>
          </p:nvPr>
        </p:nvGraphicFramePr>
        <p:xfrm>
          <a:off x="838200" y="1852454"/>
          <a:ext cx="10515600" cy="40233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57843317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3105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In Scope (What Our Project Delivers)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Out of Scope (For Future Development)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7098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✅ </a:t>
                      </a:r>
                      <a:r>
                        <a:rPr lang="en-US" b="1" dirty="0"/>
                        <a:t>Main Order Management:</a:t>
                      </a:r>
                      <a:r>
                        <a:rPr lang="en-US" dirty="0"/>
                        <a:t> Full functionality for creating, viewing, and managing orders for guests and staff.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❌ </a:t>
                      </a:r>
                      <a:r>
                        <a:rPr lang="en-US" b="1" dirty="0"/>
                        <a:t>Inventory Management:</a:t>
                      </a:r>
                      <a:r>
                        <a:rPr lang="en-US" dirty="0"/>
                        <a:t> The system does not track stock levels of ingredients or supplies.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531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✅ </a:t>
                      </a:r>
                      <a:r>
                        <a:rPr lang="en-US" b="1" dirty="0"/>
                        <a:t>Role-Based Staff System:</a:t>
                      </a:r>
                      <a:r>
                        <a:rPr lang="en-US" dirty="0"/>
                        <a:t> Secure login and distinct dashboards for Admin, Chef, and Cashier roles.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❌ </a:t>
                      </a:r>
                      <a:r>
                        <a:rPr lang="en-US" b="1" dirty="0"/>
                        <a:t>Online Payment Gateway Integration:</a:t>
                      </a:r>
                      <a:r>
                        <a:rPr lang="en-US" dirty="0"/>
                        <a:t> The "Pay Now" button simulates a transaction; a real payment gateway (like Stripe or </a:t>
                      </a:r>
                      <a:r>
                        <a:rPr lang="en-US" dirty="0" err="1"/>
                        <a:t>Razorpay</a:t>
                      </a:r>
                      <a:r>
                        <a:rPr lang="en-US" dirty="0"/>
                        <a:t>) is not integrated.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803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✅ </a:t>
                      </a:r>
                      <a:r>
                        <a:rPr lang="en-US" b="1" dirty="0"/>
                        <a:t>Menu and Table Administration:</a:t>
                      </a:r>
                      <a:r>
                        <a:rPr lang="en-US" dirty="0"/>
                        <a:t> Full CRUD (Create, Read, Update, Delete) functionality for menu items, categories, and tables.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❌ </a:t>
                      </a:r>
                      <a:r>
                        <a:rPr lang="en-US" b="1" dirty="0"/>
                        <a:t>Advanced Customer Features:</a:t>
                      </a:r>
                      <a:r>
                        <a:rPr lang="en-US" dirty="0"/>
                        <a:t> Does not include a customer loyalty program, user accounts for customers, or saving order history for guests.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6885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✅ </a:t>
                      </a:r>
                      <a:r>
                        <a:rPr lang="en-US" b="1" dirty="0"/>
                        <a:t>Sales Reporting:</a:t>
                      </a:r>
                      <a:r>
                        <a:rPr lang="en-US" dirty="0"/>
                        <a:t>  Admins can view and filter sales history to track performance over time.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❌ </a:t>
                      </a:r>
                      <a:r>
                        <a:rPr lang="en-US" b="1" dirty="0"/>
                        <a:t>Employee Payroll &amp; HR:</a:t>
                      </a:r>
                      <a:r>
                        <a:rPr lang="en-US" dirty="0"/>
                        <a:t> While staff can be managed, the system does not handle payroll, attendance, or other HR functions.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66833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FF9D851-67F4-45EF-5878-22DCDB22FF28}"/>
              </a:ext>
            </a:extLst>
          </p:cNvPr>
          <p:cNvSpPr txBox="1"/>
          <p:nvPr/>
        </p:nvSpPr>
        <p:spPr>
          <a:xfrm>
            <a:off x="4076262" y="126849"/>
            <a:ext cx="56696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Defining Our Boundaries: </a:t>
            </a:r>
          </a:p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Scope</a:t>
            </a:r>
          </a:p>
        </p:txBody>
      </p:sp>
    </p:spTree>
    <p:extLst>
      <p:ext uri="{BB962C8B-B14F-4D97-AF65-F5344CB8AC3E}">
        <p14:creationId xmlns:p14="http://schemas.microsoft.com/office/powerpoint/2010/main" val="4003457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31D6F2-4473-88EE-7782-B9866362FD58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50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1CFFBA-A33F-6482-D5B1-BC7F0BA230AB}"/>
              </a:ext>
            </a:extLst>
          </p:cNvPr>
          <p:cNvSpPr txBox="1"/>
          <p:nvPr/>
        </p:nvSpPr>
        <p:spPr>
          <a:xfrm>
            <a:off x="183969" y="1770468"/>
            <a:ext cx="1200803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Inter" panose="02000503000000020004" pitchFamily="2" charset="0"/>
                <a:ea typeface="Inter" panose="02000503000000020004" pitchFamily="2" charset="0"/>
              </a:rPr>
              <a:t>Core Message:</a:t>
            </a:r>
            <a:r>
              <a:rPr lang="en-US" sz="2400" dirty="0">
                <a:latin typeface="Inter" panose="02000503000000020004" pitchFamily="2" charset="0"/>
                <a:ea typeface="Inter" panose="02000503000000020004" pitchFamily="2" charset="0"/>
              </a:rPr>
              <a:t> We successfully developed a robust, scalable, and user-friendly Cafe Management System that streamlines operations and provides valuable business insights.</a:t>
            </a:r>
          </a:p>
          <a:p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Inter" panose="02000503000000020004" pitchFamily="2" charset="0"/>
                <a:ea typeface="Inter" panose="02000503000000020004" pitchFamily="2" charset="0"/>
              </a:rPr>
              <a:t>Achieved Efficiency: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</a:rPr>
              <a:t> Our system reduces manual errors and improves communication between staff, leading to faster service and a better customer experience.</a:t>
            </a:r>
          </a:p>
          <a:p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Inter" panose="02000503000000020004" pitchFamily="2" charset="0"/>
                <a:ea typeface="Inter" panose="02000503000000020004" pitchFamily="2" charset="0"/>
              </a:rPr>
              <a:t>Delivered Core Functionality: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</a:rPr>
              <a:t> We implemented all essential features for a modern cafe, including dynamic menu control, multi-role access, and real-time order tracking.</a:t>
            </a:r>
          </a:p>
          <a:p>
            <a:endParaRPr lang="en-US" sz="2000" dirty="0"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 dirty="0">
                <a:latin typeface="Inter" panose="02000503000000020004" pitchFamily="2" charset="0"/>
                <a:ea typeface="Inter" panose="02000503000000020004" pitchFamily="2" charset="0"/>
              </a:rPr>
              <a:t>Built a Scalable Foundation:</a:t>
            </a:r>
            <a:r>
              <a:rPr lang="en-US" sz="2000" dirty="0">
                <a:latin typeface="Inter" panose="02000503000000020004" pitchFamily="2" charset="0"/>
                <a:ea typeface="Inter" panose="02000503000000020004" pitchFamily="2" charset="0"/>
              </a:rPr>
              <a:t> By using the CodeIgniter 4 framework and a well-designed MVC architecture, we've created a solid foundation that can be easily expanded with new features in the future.</a:t>
            </a:r>
          </a:p>
          <a:p>
            <a:endParaRPr lang="en-IN" sz="2000" dirty="0"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D9F8BE-6DF8-0EE6-317C-D59E588EFF69}"/>
              </a:ext>
            </a:extLst>
          </p:cNvPr>
          <p:cNvSpPr txBox="1"/>
          <p:nvPr/>
        </p:nvSpPr>
        <p:spPr>
          <a:xfrm>
            <a:off x="2555133" y="398755"/>
            <a:ext cx="70817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Summary and Achievements</a:t>
            </a:r>
          </a:p>
        </p:txBody>
      </p:sp>
    </p:spTree>
    <p:extLst>
      <p:ext uri="{BB962C8B-B14F-4D97-AF65-F5344CB8AC3E}">
        <p14:creationId xmlns:p14="http://schemas.microsoft.com/office/powerpoint/2010/main" val="1112197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55D65C-A809-60E2-6947-129792536C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991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806</TotalTime>
  <Words>1725</Words>
  <Application>Microsoft Office PowerPoint</Application>
  <PresentationFormat>Widescreen</PresentationFormat>
  <Paragraphs>160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Inter</vt:lpstr>
      <vt:lpstr>Inter Bold</vt:lpstr>
      <vt:lpstr>Rockwell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 mehta</dc:creator>
  <cp:lastModifiedBy>Devendra Sonawane</cp:lastModifiedBy>
  <cp:revision>62</cp:revision>
  <dcterms:created xsi:type="dcterms:W3CDTF">2025-03-06T14:19:37Z</dcterms:created>
  <dcterms:modified xsi:type="dcterms:W3CDTF">2025-12-03T03:38:32Z</dcterms:modified>
</cp:coreProperties>
</file>